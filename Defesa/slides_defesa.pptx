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→ 0:25 · 25 s]</a:t>
            </a:r>
          </a:p>
          <a:p/>
          <a:p>
            <a:r>
              <a:t>Bom dia. Vou apresentar a dissertação «Aprendizagem por Reforço para Controlo de</a:t>
            </a:r>
          </a:p>
          <a:p>
            <a:r>
              <a:t>Enxames»: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[0:25 → 1:15 · 50 s]</a:t>
            </a:r>
          </a:p>
          <a:p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→ 1:55 · 40 s]</a:t>
            </a:r>
          </a:p>
          <a:p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[1:55 → 2:55 · 60 s]</a:t>
            </a:r>
          </a:p>
          <a:p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o forrageamento cooperativo.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[2:55 → 3:45 · 50 s]</a:t>
            </a:r>
          </a:p>
          <a:p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 → 4:35 · 50 s]</a:t>
            </a:r>
          </a:p>
          <a:p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[4:35 → 5:45 · 70 s]</a:t>
            </a:r>
          </a:p>
          <a:p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[5:45 → 6:25 · 40 s]</a:t>
            </a:r>
          </a:p>
          <a:p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recolhas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 → 7:25 · 60 s]</a:t>
            </a:r>
          </a:p>
          <a:p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Vinte e</a:t>
            </a:r>
          </a:p>
          <a:p>
            <a:r>
              <a:t>oito execuções de zero para cem por cento. Mas é condição necessária, não</a:t>
            </a:r>
          </a:p>
          <a:p>
            <a:r>
              <a:t>suficiente: o Muro em U continuou bimodal. Faltava a descoberta.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 → 8:40 · 75 s]</a:t>
            </a:r>
          </a:p>
          <a:p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 → 9:30 · 50 s]</a:t>
            </a:r>
          </a:p>
          <a:p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[9:30 → 10:00 · 30 s]</a:t>
            </a:r>
          </a:p>
          <a:p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recolhas, em todas as vinte e uma combinações — mesmo na porta que precisa de</a:t>
            </a:r>
          </a:p>
          <a:p>
            <a:r>
              <a:t>três robôs. A redundância vem da partilha de parâmetros e da observação local.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 → 11:00 · 60 s]</a:t>
            </a:r>
          </a:p>
          <a:p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recolha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recolhas.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A resposta é negativa e está reportada como negativa. O que a</a:t>
            </a:r>
          </a:p>
          <a:p>
            <a:r>
              <a:t>composição degrada é a fiabilidade: é a bimodalidade do Muro em U em ponto</a:t>
            </a:r>
          </a:p>
          <a:p>
            <a:r>
              <a:t>grande.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→ 11:40 · 40 s]</a:t>
            </a:r>
          </a:p>
          <a:p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[11:40 → 12:20 · 40 s]</a:t>
            </a:r>
          </a:p>
          <a:p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Tudo é simulação. E a</a:t>
            </a:r>
          </a:p>
          <a:p>
            <a:r>
              <a:t>física tem duas costuras nas paredes que uma minoria de modelos explora. Medi</a:t>
            </a:r>
          </a:p>
          <a:p>
            <a:r>
              <a:t>todos os modelos arquivados, um a um: onze atravessam, todos do evolutivo, e na</a:t>
            </a:r>
          </a:p>
          <a:p>
            <a:r>
              <a:t>campanha final são três, nas Quatro Salas — que não ficam melhores por isso, e</a:t>
            </a:r>
          </a:p>
          <a:p>
            <a:r>
              <a:t>continuam muito acima do PPO nesse cenário. Onde a costura pesa mesmo é numa</a:t>
            </a:r>
          </a:p>
          <a:p>
            <a:r>
              <a:t>célula da campanha de dosagem adaptativa, e essa está declarada como</a:t>
            </a:r>
          </a:p>
          <a:p>
            <a:r>
              <a:t>contaminada, não usada como evidência.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[12:20 → 12:50 · 30 s]</a:t>
            </a:r>
          </a:p>
          <a:p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[12:50 → 13:25 · 35 s]</a:t>
            </a:r>
          </a:p>
          <a:p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 antes da magnitude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[13:25 → 14:25 · 60 s]</a:t>
            </a:r>
          </a:p>
          <a:p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recolhas.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B, se a rede ou o portátil falharem: a captura que está neste</a:t>
            </a:r>
          </a:p>
          <a:p>
            <a:r>
              <a:t>slide, e a figura dos quatro braços — o slide com o rótulo 09 no rodapé.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→ 14:40 · 15 s]</a:t>
            </a:r>
          </a:p>
          <a:p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tabela inteira, para quando a pergunta for por uma célula concreta. Quinze das</a:t>
            </a:r>
          </a:p>
          <a:p>
            <a:r>
              <a:t>vinte e uma estão a cem por cento. As três parcelas de cada célula são recolhas</a:t>
            </a:r>
          </a:p>
          <a:p>
            <a:r>
              <a:t>por episódio, taxa de sucesso e quantas das sete execuções chegaram aos cem por</a:t>
            </a:r>
          </a:p>
          <a:p>
            <a:r>
              <a:t>cento — é a terceira que conta a história, porque é nela que a bimodalidade</a:t>
            </a:r>
          </a:p>
          <a:p>
            <a:r>
              <a:t>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Os quatro braços lado a lado. A coluna do meio é a replicação com vinte e oito</a:t>
            </a:r>
          </a:p>
          <a:p>
            <a:r>
              <a:t>execuções por braço, que é onde uma leitura por contagens ganha poder. A última</a:t>
            </a:r>
          </a:p>
          <a:p>
            <a:r>
              <a:t>coluna é o preço: com peso fixo, delta menos um; doseada adaptativamente, o</a:t>
            </a:r>
          </a:p>
          <a:p>
            <a:r>
              <a:t>preço desaparece.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 negativo, com os números que o sustentam. A ordem importa: primeiro o zero em</a:t>
            </a:r>
          </a:p>
          <a:p>
            <a:r>
              <a:t>oitenta e quatro células, depois a prova de que o mapa é resolúvel — cinquenta e</a:t>
            </a:r>
          </a:p>
          <a:p>
            <a:r>
              <a:t>três recolhas de um navegador que não aprende nada —, e só então o limiar</a:t>
            </a:r>
          </a:p>
          <a:p>
            <a:r>
              <a:t>pré-registado que não foi atingido. Sem o controlo do meio, o zero seria ambíguo.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a pergunta for pela justiça da comparação, é este o slide. A assimetria está</a:t>
            </a:r>
          </a:p>
          <a:p>
            <a:r>
              <a:t>medida, e a conclusão que dela se tira é a que desfavorece o evolutivo: mesmo</a:t>
            </a:r>
          </a:p>
          <a:p>
            <a:r>
              <a:t>custando oito vezes mais, não domina. E a configuração do SAC está declarada —</a:t>
            </a:r>
          </a:p>
          <a:p>
            <a:r>
              <a:t>temperatura fixa, sem o ajuste dual —, pelo que os seus valores são um limite</a:t>
            </a:r>
          </a:p>
          <a:p>
            <a:r>
              <a:t>inferior e não um veredicto sobre o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perguntarem o que é, ao certo, resolver o Muro em U: é isto. O mapa de calor</a:t>
            </a:r>
          </a:p>
          <a:p>
            <a:r>
              <a:t>mostra onde o enxame passa o episódio, no modelo campeão de cada algoritmo. O GNN</a:t>
            </a:r>
          </a:p>
          <a:p>
            <a:r>
              <a:t>e o PPO desenham um corredor que sai do beco, contorna o muro e chega ao ninho —</a:t>
            </a:r>
          </a:p>
          <a:p>
            <a:r>
              <a:t>quatrocentas e setenta e três e quatrocentas e doze recolhas em seis episódios. O</a:t>
            </a:r>
          </a:p>
          <a:p>
            <a:r>
              <a:t>SAC nunca encontra esse corredor: a ocupação espalha-se pela arena toda e o total</a:t>
            </a:r>
          </a:p>
          <a:p>
            <a:r>
              <a:t>é zero. Não é uma diferença de magnitude, é outro comportamento — e é esta a</a:t>
            </a:r>
          </a:p>
          <a:p>
            <a:r>
              <a:t>forma da falha que uma média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resposta longa à pergunta da confiança. Não é que eu tenha conferido os</a:t>
            </a:r>
          </a:p>
          <a:p>
            <a:r>
              <a:t>números: é que eles são recalculados a cada commit, e o commit é recusado se</a:t>
            </a:r>
          </a:p>
          <a:p>
            <a:r>
              <a:t>algum deixar de bater. E os próprios verificadores são postos à prova — noventa</a:t>
            </a:r>
          </a:p>
          <a:p>
            <a:r>
              <a:t>e duas mutações injetadas na tese, uma de cada vez, cada uma tem de ser</a:t>
            </a:r>
          </a:p>
          <a:p>
            <a:r>
              <a:t>apanhada. A cobertura está medida e publicada, com a lista do que ainda falta,</a:t>
            </a:r>
          </a:p>
          <a:p>
            <a:r>
              <a:t>porque um número de cobertura sem essa lista é uma alegação.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3810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80180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DISSERTAÇÃO DE MESTRADO ·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988740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Aprendizagem por Reforço para Controlo de Enxames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9A9A9A"/>
                </a:solidFill>
                <a:latin typeface="Segoe UI"/>
              </a:rPr>
              <a:t>Aprendizagem por reforço multiagente por gradiente vs. neuroevolução com atenção sobre grafo, em oito cenários de dificuldade crescente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434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5F5F5"/>
                </a:solidFill>
                <a:latin typeface="Segoe U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Mestrado em Inteligência Artificial · ISCTE-IUL · 2026</a:t>
            </a:r>
          </a:p>
        </p:txBody>
      </p:sp>
      <p:pic>
        <p:nvPicPr>
          <p:cNvPr id="9" name="Picture 8" descr="isc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502920"/>
            <a:ext cx="1737360" cy="879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duas escolas, e nenhuma comparação direta em cenários difíceis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Robótica de enxame: muitos agentes simples, controlo descentralizado, inteligência nas interações locais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MARL — adaptabilidade online, não-estacionaridade, recompensas esparsas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Lacuna (Majid et al., 2024; Bettini et al., 2024): faltam benchmarks diretos, com estatística, em cenários dinâmicos e difíceis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A resposta curta: só em parte — e não onde a hipótese a punha.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9615" y="1600200"/>
            <a:ext cx="4206239" cy="420623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911" y="1682496"/>
            <a:ext cx="4041647" cy="404164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Sete questões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quatro de comparação entre paradigmas, três sobre os mecanismos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1 — comparação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QI1  Desempenho de tarefa: qual paradigma é mais eficaz, e em que cenários?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QI2  Escalabilidade: uma política treinada com N=20 transfere-se para N=10…100 sem retreino?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QI3  Robustez: o que acontece quando 10 % dos agentes falham a meio?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2 — mecanismos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QI5  Desenho da fitness: um shaping de homing desbloqueia o que a fitness pura não resolve?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QI6  Deceção: a procura por novidade ajuda onde o gradiente engana?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QI7  Composição: as conclusões transferem-se para um mapa que junta as dificuldades?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simulador e os oito cenários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forrageamento cooperativo em 3D, 20 agentes, observação local (LiDAR 8 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Tarefa: recolher itens e entregá-los no ninho; perceção cooperativa com alvo móvel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Observação local e parcial: LiDAR, bússola ao ninho, vizinhos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Porta Cooperativa (3 robôs) · Perceção Cooperativa · Porta com Alternativa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Oitavo: o mapa composto, 103 × 62 m, que junta quatro dificuldades em série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Falhas súbitas de agentes e dimensão do enxame variável, para a robustez e a escala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2435" y="1600200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31" y="1682496"/>
            <a:ext cx="1023767" cy="1161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50750" y="1600200"/>
            <a:ext cx="1118434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046" y="1682496"/>
            <a:ext cx="953842" cy="1161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56830" y="1600200"/>
            <a:ext cx="1052977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126" y="1682496"/>
            <a:ext cx="888385" cy="11612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10453" y="1600200"/>
            <a:ext cx="109243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749" y="1682496"/>
            <a:ext cx="927843" cy="1161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291580" y="3044952"/>
            <a:ext cx="109007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876" y="3127248"/>
            <a:ext cx="925478" cy="11612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915787" y="3044952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3" y="3127248"/>
            <a:ext cx="1023767" cy="11612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7153" y="3044952"/>
            <a:ext cx="107233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9449" y="3127248"/>
            <a:ext cx="907740" cy="11612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36815" y="4489704"/>
            <a:ext cx="1828800" cy="1828800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9111" y="4572000"/>
            <a:ext cx="1664208" cy="1664208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Os três controladores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Fitness: recolhas + homing terminal no potencial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protocolo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que impede esta tese de mentir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3 algoritmos × 7 cenários × 7 execuções independentes = 147 treinos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Avaliação determinística: 20 episódios emparelhados por modelo (sementes comuns) — 2 940 episódios na campanha principal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unidade estatística é a execução, não o episódio: Mann-Whitney U sobre as médias por execução (n = 7), δ de Cliff como tamanho de efeito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Métrica de tarefa pura: recolhas por episódio e taxa de sucesso — comparável entre paradigmas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Três campanhas pré-registadas (hipótese, testes e regra de decisão fixados antes dos dados)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27 verificadores automáticos, 19 no hook de pre-commit: cada número da tese é recalculado a partir dos CSV, e o commit é recusado se algum deixar de bater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2244852"/>
            <a:ext cx="5303520" cy="2734056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831" y="2327148"/>
            <a:ext cx="5138928" cy="256946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QI1 — Desempenho de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paradigma dominante; há cenários de cada 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2E2E2"/>
                </a:solidFill>
                <a:latin typeface="Segoe UI"/>
              </a:rPr>
              <a:t>Muro em U: ninguém o resolve de forma fiável — bimodal nos três (3/7, 4/7, 2/7).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61788" y="1600200"/>
            <a:ext cx="3241894" cy="2194560"/>
          </a:xfrm>
          <a:prstGeom prst="roundRect">
            <a:avLst>
              <a:gd name="adj" fmla="val 277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xa_sucesso_por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084" y="1682496"/>
            <a:ext cx="3077302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2169" y="3977640"/>
            <a:ext cx="3541132" cy="2194560"/>
          </a:xfrm>
          <a:prstGeom prst="roundRect">
            <a:avLst>
              <a:gd name="adj" fmla="val 254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colhas_por_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4465" y="4059936"/>
            <a:ext cx="3376540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A unidade é a execução — e a forma da distribuição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porque se reportam pontos e não caixas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Com n = 7, os quartis de um boxplot são ruído; a caixa cheia sugere densidade onde não há nenhuma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Muro em U: 4 execuções do GNN a zero e 3 entre 43 e 80 — bimodal, não «média 24,5»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Sandbox: o cenário mais simples é o menos fiável para o evolutivo — 2 execuções degeneram (sem paredes, não há gradiente geodésico que canalize o homing)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convergência tudo-ou-nada é o padrão em 6 das 21 células — e é o que as QI5 e QI6 explicam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0102" y="160020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398" y="1682496"/>
            <a:ext cx="2463553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0102" y="397764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plot_eval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2398" y="4059936"/>
            <a:ext cx="2463553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QI5 — O desenho da fitness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«colapso do evolutivo» era um artefacto do sinal de 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Fitness inicial: recolhas + retorno acumulado do episódio — farmável por deambulação; a população satura num planalto sem pressão seletiva (fitness exploitation)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2FB583"/>
                </a:solidFill>
                <a:latin typeface="Segoe UI"/>
              </a:rPr>
              <a:t>Resultado: de 0 % para 100 % de sucesso nas 28 execuções dos quatro cenários de gargalo.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Necessário, não suficiente: resolve a atribuição de crédito, não a descoberta do desvio comprido — o Muro em U continua bimodal (3/7), como nos métodos de gradiente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6655" y="2284902"/>
            <a:ext cx="5486400" cy="2836835"/>
          </a:xfrm>
          <a:prstGeom prst="roundRect">
            <a:avLst>
              <a:gd name="adj" fmla="val 164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geodesico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951" y="2367198"/>
            <a:ext cx="5321808" cy="2672243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QI6 — Deceção e procura por novidade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exploração tem preço; doseada, deixa de 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Novidade com peso fixo (w = 0,5), orçamento igualado: Muro em U passa de 3/7 para 7/7 (69,8 vs 24,5; p = 0,026, δ = +0,71) — mas custa na Porta com Alternativa (63,0 vs 86,7; δ = −1,00)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Replicação a n = 28: 28/28 execuções resolvidas, contra 15/28 do objetivo puro e 14/28 do PPO e do SAC (Fisher exato, p &lt; 0,0001).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GNN objetivo e PPO indistinguíveis (p = 0,088): o que separa os braços é a dosagem da exploração, não o paradigma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9365" y="1600200"/>
            <a:ext cx="4586740" cy="4572000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661" y="1682496"/>
            <a:ext cx="4422148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QI2 — Escalabilidade Zero-Shot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só a arquitetura de grafo transfere de N = 10 a N = 100 sem retreino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100 % de sucesso nas 28 combinações cenário × dimensão (recolhas por agente na tabela)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PPO/SAC: a MLP de entrada fixa (ℝ¹¹¹) é estruturalmente incompatível com N ≠ 20 — não é um resultado fraco, é o resultado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1">
                <a:solidFill>
                  <a:srgbClr val="E2E2E2"/>
                </a:solidFill>
                <a:latin typeface="Segoe UI"/>
              </a:rPr>
              <a:t>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QI3 — Robustez a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10 % dos agentes ficam inertes a meio do episódio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Retenção de recolhas entre 92 % e 106 % nas 21 combinações algoritmo–cenário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Inclui a Porta Cooperativa, que exige três agentes simultâneos: o enxame redistribui-se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Transversal aos paradigmas: a redundância vem do parameter sharing e da observação local — nenhum agente é insubstituível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Consequência para a QI4: a robustez não é critério de escolha entre paradigmas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3564" y="1600200"/>
            <a:ext cx="3243942" cy="4206240"/>
          </a:xfrm>
          <a:prstGeom prst="roundRect">
            <a:avLst>
              <a:gd name="adj" fmla="val 277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bustez_falh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860" y="1682496"/>
            <a:ext cx="3079350" cy="404164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QI7 — Composição de dificuldades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um labirinto de 103 × 62 m que junta quatro dificuldades em série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Transferência sem retreino: zero recolhas em 84 de 84 células (1 680 episódios, 4 condições de controlo) — mas o mapa é resolúvel: um navegador geodésico sem aprendizagem faz 53,0 rec/ep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Treino nativo, 21 execuções por algoritmo: só o evolutivo passa — em 4 de 21, abaixo do limiar de 15 fixado antes dos dados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A resposta à QI7 é negativa, e reporta-se como tal.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que a composição degrada é a fiabilidade, não a magnitude: a assinatura bimodal do Muro em U, à escala de um mapa quatro vezes maior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Condicionada ao orçamento: em 19 das 21 execuções o fitness ainda subia no último quinto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02575" y="1600200"/>
            <a:ext cx="2194560" cy="2194560"/>
          </a:xfrm>
          <a:prstGeom prst="roundRect">
            <a:avLst>
              <a:gd name="adj" fmla="val 410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grande_pl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871" y="1682496"/>
            <a:ext cx="2029968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71514" y="3977640"/>
            <a:ext cx="145668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grande_ras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3810" y="4059936"/>
            <a:ext cx="1292090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QI4 — Critério de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vencedor universal; há um mapa de escolha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Limitações — as que admito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declaradas na dissertação, com os números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Arquitetura assimétrica: atenção sobre grafo só no evolutivo; PPO/SAC com MLP — a comparação combina otimizador e representação (trabalho futuro n.º 1: a mesma arquitetura por gradiente)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Sete execuções por célula: onde a leitura depende de contagens, replicou-se a n = 28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Orçamento: 7 das 21 células ainda subiam no fim — o SAC nos gargalos lê-se como limite inferior (temperatura fixa, α = 0,1)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Só simulação: o fosso de implantação fica por validar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Dimensão vertical usada mas não observada; duas costuras na física das paredes — 11 de 343 modelos arquivados atravessam-nas, todos do evolutivo; na campanha final são 3 de 70 (Quatro Salas), e não as tornam melhores (55,7 vs 60,3 rec/ep). Onde a costura pesa é numa célula da campanha adaptativa — Quatro Salas —, declarada como contaminada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QI7 sobre um único mapa composto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88175" y="1729825"/>
            <a:ext cx="4754880" cy="394698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71" y="1812121"/>
            <a:ext cx="4590288" cy="378239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Contributos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o homing terminal no potencial geodésico levou 28 execuções de 0 % a 100 % — o principal contributo metodológico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simulador, oito cenários, RS2C e neuroevolução; 27 verificadores ligam cada número aos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2037969"/>
            <a:ext cx="4937760" cy="3147822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0265"/>
            <a:ext cx="4773168" cy="298323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hipótese confirma-se só em parte — e não onde a punha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A composição de dificuldades degrada a fiabilidade antes da magnitude — e isso está reportado como resultado negativo, com o número à vista.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Demo ao vivo — o Muro em U no painel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809777"/>
            <a:ext cx="7589520" cy="3787085"/>
          </a:xfrm>
          <a:prstGeom prst="roundRect">
            <a:avLst>
              <a:gd name="adj" fmla="val 1185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92073"/>
            <a:ext cx="7424928" cy="36224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2. A 4.ª coluna: o GNN com novidade adaptativa — 7/7, 77,8 rec/ep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2E2E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Setas do teclado mudam de mapa · plano B: a captura aqui ao lado, e a figura dos quatro braços do rodapé 09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0"/>
            <a:ext cx="38100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5F5"/>
                </a:solidFill>
                <a:latin typeface="Segoe U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A tabela de avaliação, na íntegra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recolhas/ep · taxa de sucesso · execuções a 100 %  —  7 execuções por célula, 20 episódios determinísticos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Significância (Mann-Whitney sobre as médias por execução, n = 7; δ de Cliff): GNN &gt; PPO e SAC nas Quatro Salas, Porta Cooperativa e Perceção (δ ≥ +0,71) · GNN &gt; SAC no Gargalo e na Porta com Alternativa (δ = +1,00), empate com o PPO (p = 0,21) · PPO e SAC &gt; GNN no Sandbox (δ = ±1,00) · Muro em U: nada significativo, nos três.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999232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834640"/>
                <a:gridCol w="2788920"/>
                <a:gridCol w="27889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38,3 · 86 %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71,5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24,5 · 43 % · 3/7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39,6 · 71 % · 4/7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9,0 · 34 % · 2/7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121,4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123,2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41,4 · 72 %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59,8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33,6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31,8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69,8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67,1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62,1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19,0 · 91 % · 6/7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15,3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16,1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Novidade e mega-treino, braço a braço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orçamento igualado a 195 min por execução, salvo indicação em contrário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n = 28: Fisher exato, adaptativo vs. objetivo, p &lt; 0,0001. GNN objetivo vs. PPO, p = 0,088 — indistinguíveis. Nenhuma das 28 execuções do SAC passa de 45,4 rec/ep: é uniformemente fraco, e não bimodal.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Não se compra com orçamento: o objetivo puro com 390 min continua bimodal (4/7, 31,5 ± 35,0); o adaptativo com 390 min faz 88,7 ± 0,6 na Porta com Alternativa — o melhor resultado da tese.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Ablação da temperagem, 4 variantes: 7/7 nos dois cenários — o mecanismo não vive da afinação.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651760"/>
                <a:gridCol w="269748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BRAÇO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28)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PORTA C/ ALT.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adaptativa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68,5 ± 13,1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28/28 · 67,4 ± 13,4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77,2 ± 16,7  (n.s.)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w = 0,5 fixo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69,8 ± 5,9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63,0 ± 21,9  (δ = −1,00)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objetivo puro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3/7 · 24,5 ± 32,6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15/28 · 32,5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± 2,0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4/7 · 39,6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35,6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2/7 · 9,0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10,1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QI7, o mapa composto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103 × 62 m · raio 60 m (contra 15 dos cenários isolados) · 128,8 m do spawn ao ninho · 106 obstáculos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As 4 condições de controlo excluem a escala da observação, os obstáculos e as features da porta como causa do zero. O que a composição degrada é a fiabilidade, não a magnitude.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114800"/>
                <a:gridCol w="48463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O QUE SE MEDIU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1 — zero-shot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transferência sem retreino, com 4 condições de controlo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zero recolhas em 84/84 células · 1 680 episódios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Controlo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mapa é sequer resolúvel?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navegador geodésico, sem aprendizagem: 53,0 rec/ep (82,0 nas Quatro Salas)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2 — treino nativo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21 execuções por algoritmo, 780 min cada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GNN 4/21 · 1,7 rec/ep  ·  PPO 0/21  ·  SAC 0/21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Regra de decisão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limiar fixado antes de haver dados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15 execuções convergentes em 21 — o resultado ficou em 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treino tinha acabado de convergir?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em 19 das 21 execuções o fitness ainda subia no último quinto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Custo, orçamento e o que está declarado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assimetria de cómputo, medida — e a leitura que dela se tira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leitura é a inversa da que favoreceria o evolutivo: com ≈ 8× menos núcleos-hora, os métodos de gradiente igualam ou superam o GNN em 4 dos 7 cenários.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Campanha principal: 147 treinos e 2 940 episódios de avaliação. Projeto inteiro: 28 sessões e 2 078 h de treino, das quais 341 h do mega-treino de um mês.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Sub-treino declarado, não escondido: 7 das 21 células ainda subiam no fim do orçamento, e o SAC nos gargalos lê-se como limite inferior (temperatura fixa, α = 0,1, sem o ajuste dual — p. 44).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584448"/>
          <a:ext cx="11064238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749039"/>
                <a:gridCol w="3749039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Tempo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Paralelismo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população de 30 genomas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Núcleos-hora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Rácio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≈ 7,6× mais caro  (≈ 8×)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O Muro em U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ocupação média do enxame ao longo do episódio — modelos campeões, 6 episódios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ocupacao_gnn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080830"/>
            <a:ext cx="3447287" cy="30163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atmap_ocupacao_ppo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0830"/>
            <a:ext cx="3447287" cy="30163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28432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atmap_ocupacao_sac_u_w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2080830"/>
            <a:ext cx="3447287" cy="30163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O corredor que contorna o muro é o que separa quem resolve de quem não resolve: o GNN e o PPO desenham-no (473 e 412 recolhas em 6 episódios); o SAC nunca o encontra e faz zero.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Como sei que os números são os dos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verificação, medida e ensaiada — não alegada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27 verificadores automáticos; 19 correm no hook de pre-commit e recusam o commit se um número da tese deixar de bater com o CSV que o produziu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 principal confere ~965 valores do main.tex; o do mapa composto, 72; o da configuração, 45 — física, recompensa e hiperparâmetros dos três algoritmos, lidos do foraging.yaml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Ensaio de mutação: a tese é estragada de propósito, 92 mutações, uma de cada vez, e o ensaio exige que todas sejam acusadas. Um verificador que nunca falhou não está provado — está por testar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Cobertura medida, não alegada: 1 043 dos 2 286 tokens numéricos do corpo do main.tex são lidos por algum verificador (46 %), e os 193 automatizáveis que faltam estão listados, um a um, em docs/COBERTURA_VERIFICADOR.md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Três pré-registos: hipótese, testes e regra de decisão escritos antes de haver dados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docs/REPRODUZIR.md refaz o percurso comando a comando — e é ele próprio ensaiado contra o disco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