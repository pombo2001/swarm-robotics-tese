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[0:00 → 0:20 · 20 s]</a:t>
            </a:r>
          </a:p>
          <a:p/>
          <a:p>
            <a:r>
              <a:t>Bom dia. Vou apresentar a dissertação «Aprendizagem por Reforço Multiagente e Neuroevolução no Controlo de Enxames de Robôs: Desempenho,</a:t>
            </a:r>
          </a:p>
          <a:p>
            <a:r>
              <a:t>Escalabilidade e Robustez»: uma comparação, no mesmo simulador e com o mesmo protocolo, entre dois</a:t>
            </a:r>
          </a:p>
          <a:p>
            <a:r>
              <a:t>paradigmas de controlo descentralizado — aprendizagem por reforço multiagente por</a:t>
            </a:r>
          </a:p>
          <a:p>
            <a:r>
              <a:t>gradiente (PPO e SAC) e neuroevolução de uma rede de grafos com atenção — em oito</a:t>
            </a:r>
          </a:p>
          <a:p>
            <a:r>
              <a:t>cenários. Quinze minutos: o problema, o método, sete perguntas e as respostas.</a:t>
            </a:r>
          </a:p>
          <a:p/>
          <a:p>
            <a:r>
              <a:t>- - - NÃO É PARA DIZER: o Resumo da dissertação, que o júri leu (235 palavras) - - -</a:t>
            </a:r>
          </a:p>
          <a:p/>
          <a:p>
            <a:r>
              <a:t>Esta dissertação compara a aprendizagem por reforço multiagente e a otimização</a:t>
            </a:r>
          </a:p>
          <a:p>
            <a:r>
              <a:t>bio-inspirada no controlo descentralizado de enxames de robôs. Num simulador</a:t>
            </a:r>
          </a:p>
          <a:p>
            <a:r>
              <a:t>próprio, vinte robôs têm de chegar em conjunto a um ninho. Um controlador</a:t>
            </a:r>
          </a:p>
          <a:p>
            <a:r>
              <a:t>evolutivo, uma rede neuronal sobre grafos com atenção, foi comparado com dois</a:t>
            </a:r>
          </a:p>
          <a:p>
            <a:r>
              <a:t>algoritmos de aprendizagem por reforço por gradiente (Proximal Policy</a:t>
            </a:r>
          </a:p>
          <a:p>
            <a:r>
              <a:t>Optimization e Soft Actor-Critic) em sete cenários de dificuldade crescente, com</a:t>
            </a:r>
          </a:p>
          <a:p>
            <a:r>
              <a:t>7 treinos independentes por algoritmo e cenário.</a:t>
            </a:r>
          </a:p>
          <a:p/>
          <a:p>
            <a:r>
              <a:t>Com uma função de aptidão que premeia também a aproximação ao ninho, o</a:t>
            </a:r>
          </a:p>
          <a:p>
            <a:r>
              <a:t>controlador evolutivo supera os métodos de gradiente em três cenários, iguala o</a:t>
            </a:r>
          </a:p>
          <a:p>
            <a:r>
              <a:t>melhor noutros dois e é o único que funciona sem novo treino com enxames de 10 a</a:t>
            </a:r>
          </a:p>
          <a:p>
            <a:r>
              <a:t>100 robôs; os métodos de gradiente são mais fiáveis em espaço aberto e gastam</a:t>
            </a:r>
          </a:p>
          <a:p>
            <a:r>
              <a:t>menos cálculo. O cenário que obriga a afastar-se do ninho para o alcançar só foi</a:t>
            </a:r>
          </a:p>
          <a:p>
            <a:r>
              <a:t>resolvido de forma consistente com pressão por comportamentos novos, atenuada</a:t>
            </a:r>
          </a:p>
          <a:p>
            <a:r>
              <a:t>após a descoberta: numa replicação com 28 treinos por algoritmo, resolveu-o em</a:t>
            </a:r>
          </a:p>
          <a:p>
            <a:r>
              <a:t>28, contra 15 sem essa pressão e 14 de cada método de gradiente. Um oitavo</a:t>
            </a:r>
          </a:p>
          <a:p>
            <a:r>
              <a:t>cenário, que junta as dificuldades dos sete num labirinto de 103 x 62 m, é</a:t>
            </a:r>
          </a:p>
          <a:p>
            <a:r>
              <a:t>resolvido em apenas 4 de 21 treinos.</a:t>
            </a:r>
          </a:p>
          <a:p/>
          <a:p>
            <a:r>
              <a:t>A hipótese de que a aprendizagem adaptativa supera a otimização estática</a:t>
            </a:r>
          </a:p>
          <a:p>
            <a:r>
              <a:t>confirma-se só em parte: escalar depende da representação da política, não do</a:t>
            </a:r>
          </a:p>
          <a:p>
            <a:r>
              <a:t>otimizador; nos cenários enganadores, depende do sinal de treino.</a:t>
            </a:r>
          </a:p>
          <a:p/>
          <a:p>
            <a:r>
              <a:t>É daqui que saem, quase sempre, as primeiras perguntas. Cada afirmação deste</a:t>
            </a:r>
          </a:p>
          <a:p>
            <a:r>
              <a:t>Resumo tem o seu slide: a fitness no 10, a novidade no 11, a escala no 12, o mapa</a:t>
            </a:r>
          </a:p>
          <a:p>
            <a:r>
              <a:t>composto no 14, e a frase final é o slide 18.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[0:20 → 0:40 · 20 s]</a:t>
            </a:r>
          </a:p>
          <a:p/>
          <a:p>
            <a:r>
              <a:t>Em cinco partes. Primeiro o contexto: o problema e as sete questões. Depois o</a:t>
            </a:r>
          </a:p>
          <a:p>
            <a:r>
              <a:t>método — simulador, controladores e protocolo. O grosso é o dos resultados, que</a:t>
            </a:r>
          </a:p>
          <a:p>
            <a:r>
              <a:t>respondo pela ordem em que se desbloqueiam, e não pela ordem de numeração. Fecho</a:t>
            </a:r>
          </a:p>
          <a:p>
            <a:r>
              <a:t>com as limitações, os contributos e a conclusão, e um minuto de demo ao vivo.</a:t>
            </a:r>
          </a:p>
          <a:p/>
          <a:p>
            <a:r>
              <a:t>(Os números à direita são os rótulos do rodapé: se o júri pedir «volte à QI5»,</a:t>
            </a:r>
          </a:p>
          <a:p>
            <a:r>
              <a:t>é o 09.)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[0:40 → 1:25 · 45 s]</a:t>
            </a:r>
          </a:p>
          <a:p/>
          <a:p>
            <a:r>
              <a:t>O campo organiza-se em duas escolas. A bio-inspirada trata o controlador como um</a:t>
            </a:r>
          </a:p>
          <a:p>
            <a:r>
              <a:t>problema de otimização offline — robusto, mas estático. O MARL aprende online,</a:t>
            </a:r>
          </a:p>
          <a:p>
            <a:r>
              <a:t>mas paga a não-estacionaridade e as recompensas esparsas. A literatura diz que</a:t>
            </a:r>
          </a:p>
          <a:p>
            <a:r>
              <a:t>faltam comparações diretas, rigorosas, em cenários difíceis. Esta tese é essa</a:t>
            </a:r>
          </a:p>
          <a:p>
            <a:r>
              <a:t>comparação. A hipótese de partida era que a adaptabilidade do MARL ganharia em</a:t>
            </a:r>
          </a:p>
          <a:p>
            <a:r>
              <a:t>stress; a resposta vai ser «só em parte» — e a parte que se confirma não está</a:t>
            </a:r>
          </a:p>
          <a:p>
            <a:r>
              <a:t>onde a hipótese a punha.</a:t>
            </a:r>
          </a:p>
          <a:p/>
          <a:p>
            <a:r>
              <a:t>- - - CÁBULA: os termos deste slide (não é para dizer) - - -</a:t>
            </a:r>
          </a:p>
          <a:p/>
          <a:p>
            <a:r>
              <a:t>• Robótica de enxame — muitos robôs simples, sem líder; o comportamento coletivo nasce das interações locais</a:t>
            </a:r>
          </a:p>
          <a:p>
            <a:r>
              <a:t>• Controlo descentralizado — cada robô decide só com o que ele próprio observa — não há computador central</a:t>
            </a:r>
          </a:p>
          <a:p>
            <a:r>
              <a:t>• MARL — aprendizagem por reforço multiagente: vários agentes aprendem por tentativa e erro a maximizar uma recompensa</a:t>
            </a:r>
          </a:p>
          <a:p>
            <a:r>
              <a:t>• Otimização bio-inspirada — aqui, neuroevolução: evoluem-se os pesos da rede por seleção e mutação, sem gradientes</a:t>
            </a:r>
          </a:p>
          <a:p>
            <a:r>
              <a:t>• Não-estacionaridade — para cada agente o ambiente muda enquanto aprende, porque os outros agentes também estão a aprender</a:t>
            </a:r>
          </a:p>
          <a:p>
            <a:r>
              <a:t>• Recompensa esparsa — o sinal útil chega raramente (só ao chegar ao ninho): difícil saber que ação o causou</a:t>
            </a:r>
          </a:p>
          <a:p>
            <a:r>
              <a:t>• Benchmark — comparação sistemática, com o mesmo simulador, cenários e protocolo para todos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[1:25 → 2:05 · 40 s]</a:t>
            </a:r>
          </a:p>
          <a:p/>
          <a:p>
            <a:r>
              <a:t>Sete questões em dois níveis. As quatro primeiras comparam paradigmas:</a:t>
            </a:r>
          </a:p>
          <a:p>
            <a:r>
              <a:t>desempenho, escalabilidade, robustez e critério de escolha. As três seguintes</a:t>
            </a:r>
          </a:p>
          <a:p>
            <a:r>
              <a:t>descem aos mecanismos — o sinal de treino, a pressão de exploração e a</a:t>
            </a:r>
          </a:p>
          <a:p>
            <a:r>
              <a:t>topologia — e só se tornam formuláveis depois das primeiras. Vou respondê-las</a:t>
            </a:r>
          </a:p>
          <a:p>
            <a:r>
              <a:t>todas, pela ordem em que os resultados as desbloqueiam.</a:t>
            </a:r>
          </a:p>
          <a:p/>
          <a:p>
            <a:r>
              <a:t>- - - CÁBULA: os termos deste slide (não é para dizer) - - -</a:t>
            </a:r>
          </a:p>
          <a:p/>
          <a:p>
            <a:r>
              <a:t>• Zero-shot — aplicar a política treinada com N = 20 a outro N sem qualquer retreino</a:t>
            </a:r>
          </a:p>
          <a:p>
            <a:r>
              <a:t>• Fitness — a nota que a evolução dá a cada genoma; é o que decide quem se reproduz</a:t>
            </a:r>
          </a:p>
          <a:p>
            <a:r>
              <a:t>• Shaping — termos extra na recompensa/fitness que guiam a aprendizagem antes de haver sucesso</a:t>
            </a:r>
          </a:p>
          <a:p>
            <a:r>
              <a:t>• Homing — o termo que premeia terminar perto do ninho</a:t>
            </a:r>
          </a:p>
          <a:p>
            <a:r>
              <a:t>• Deceção (deceptive) — cenário em que seguir o gradiente da recompensa afasta da solução</a:t>
            </a:r>
          </a:p>
          <a:p>
            <a:r>
              <a:t>• Procura por novidade — premiar comportamentos diferentes dos já vistos, e não só o objetivo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[2:05 → 3:05 · 60 s]</a:t>
            </a:r>
          </a:p>
          <a:p/>
          <a:p>
            <a:r>
              <a:t>O simulador foi construído de raiz em Python: tridimensional, com física de</a:t>
            </a:r>
          </a:p>
          <a:p>
            <a:r>
              <a:t>colisões e deslizamento nos muros, LiDAR horizontal de 8 metros e observação</a:t>
            </a:r>
          </a:p>
          <a:p>
            <a:r>
              <a:t>egocêntrica. A tarefa é chegar ao ninho em conjunto: não há objetos para apanhar, e</a:t>
            </a:r>
          </a:p>
          <a:p>
            <a:r>
              <a:t>conta uma chegada quando os agentes exigidos estão no ninho ao mesmo tempo. Sete cenários isolam uma</a:t>
            </a:r>
          </a:p>
          <a:p>
            <a:r>
              <a:t>dificuldade cada — um beco enganador, um gargalo, quatro salas, uma porta que só</a:t>
            </a:r>
          </a:p>
          <a:p>
            <a:r>
              <a:t>abre com três robôs — e o oitavo compõe quatro delas num labirinto quatro vezes</a:t>
            </a:r>
          </a:p>
          <a:p>
            <a:r>
              <a:t>maior. Tudo é reproduzível: sementes fixas, avaliação determinística.</a:t>
            </a:r>
          </a:p>
          <a:p/>
          <a:p>
            <a:r>
              <a:t>- - - CÁBULA: os termos deste slide (não é para dizer) - - -</a:t>
            </a:r>
          </a:p>
          <a:p/>
          <a:p>
            <a:r>
              <a:t>• Ninho — a zona-alvo; conta uma chegada quando os agentes exigidos estão lá ao mesmo tempo</a:t>
            </a:r>
          </a:p>
          <a:p>
            <a:r>
              <a:t>• LiDAR — sensor de distância por raios: diz a que distância está a parede em cada direção (alcance 8 m)</a:t>
            </a:r>
          </a:p>
          <a:p>
            <a:r>
              <a:t>• Observação local e parcial — cada robô só vê à sua volta e em relação a si (egocêntrica), nunca o mapa inteiro</a:t>
            </a:r>
          </a:p>
          <a:p>
            <a:r>
              <a:t>• Muro em U — beco virado para o ninho: ir a direito prende o enxame; é preciso afastar-se para contornar</a:t>
            </a:r>
          </a:p>
          <a:p>
            <a:r>
              <a:t>• Porta Cooperativa — a porta só abre com três robôs em simultâneo junto dela</a:t>
            </a:r>
          </a:p>
          <a:p>
            <a:r>
              <a:t>• Perceção Cooperativa — não tem ninho: conta uma chegada quando três agentes cercam um alvo móvel</a:t>
            </a:r>
          </a:p>
          <a:p>
            <a:r>
              <a:t>• Porta com Alternativa — a porta parece o caminho mais curto mas está fechada; há um corredor alternativo</a:t>
            </a:r>
          </a:p>
          <a:p>
            <a:r>
              <a:t>• Wall-sliding — contra um muro o robô não para — desliza ao longo da parede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[3:05 → 3:55 · 50 s]</a:t>
            </a:r>
          </a:p>
          <a:p/>
          <a:p>
            <a:r>
              <a:t>Os dois lados partilham o simulador, a observação e o protocolo de avaliação.</a:t>
            </a:r>
          </a:p>
          <a:p>
            <a:r>
              <a:t>O PPO e o SAC usam as implementações de referência da Stable-Baselines3 — uma</a:t>
            </a:r>
          </a:p>
          <a:p>
            <a:r>
              <a:t>MLP de entrada fixa. O controlador evolutivo otimiza os pesos de uma rede de</a:t>
            </a:r>
          </a:p>
          <a:p>
            <a:r>
              <a:t>grafos com atenção sobre os vizinhos, invariante ao número de agentes. A</a:t>
            </a:r>
          </a:p>
          <a:p>
            <a:r>
              <a:t>assimetria é declarada como primeira limitação: por isso mesmo, a conclusão</a:t>
            </a:r>
          </a:p>
          <a:p>
            <a:r>
              <a:t>sobre escalabilidade é atribuída à representação, não ao algoritmo. O evolutivo</a:t>
            </a:r>
          </a:p>
          <a:p>
            <a:r>
              <a:t>custa cerca de oito vezes mais núcleos-hora por execução.</a:t>
            </a:r>
          </a:p>
          <a:p/>
          <a:p>
            <a:r>
              <a:t>- - - CÁBULA: os termos deste slide (não é para dizer) - - -</a:t>
            </a:r>
          </a:p>
          <a:p/>
          <a:p>
            <a:r>
              <a:t>• PPO — Proximal Policy Optimization: gradiente de política on-policy, com passos cortados para não mudar demais</a:t>
            </a:r>
          </a:p>
          <a:p>
            <a:r>
              <a:t>• SAC — Soft Actor-Critic: off-policy, reutiliza experiência guardada e premeia a entropia (temperatura α)</a:t>
            </a:r>
          </a:p>
          <a:p>
            <a:r>
              <a:t>• On-policy / off-policy — treina só com dados da política atual / reaproveita dados antigos (replay buffer)</a:t>
            </a:r>
          </a:p>
          <a:p>
            <a:r>
              <a:t>• RS2C — Robust and Scalable Swarm Control: o framework da tese para PPO/SAC — execução descentralizada com partilha de parâmetros</a:t>
            </a:r>
          </a:p>
          <a:p>
            <a:r>
              <a:t>• Parameter sharing — os 20 agentes usam a mesma rede (os mesmos pesos)</a:t>
            </a:r>
          </a:p>
          <a:p>
            <a:r>
              <a:t>• MLP — rede neuronal densa clássica; entrada de tamanho fixo (aqui um vetor de 111 números, ℝ¹¹¹)</a:t>
            </a:r>
          </a:p>
          <a:p>
            <a:r>
              <a:t>• GNN com atenção — rede sobre o grafo dos vizinhos que pesa cada vizinho pela relevância; funciona com qualquer nº de vizinhos</a:t>
            </a:r>
          </a:p>
          <a:p>
            <a:r>
              <a:t>• Invariante a N — a mesma rede serve para 10, 20 ou 100 agentes sem mudar nada</a:t>
            </a:r>
          </a:p>
          <a:p>
            <a:r>
              <a:t>• Shaping geodésico — recompensa por aproximar-se do ninho, medida pelo caminho que contorna paredes</a:t>
            </a:r>
          </a:p>
          <a:p>
            <a:r>
              <a:t>• Genoma / população — genoma = um conjunto de pesos da rede; população = os 30 genomas avaliados por geração</a:t>
            </a:r>
          </a:p>
          <a:p>
            <a:r>
              <a:t>• Ambientes vetorizados — 16 cópias do simulador a correr em paralelo para recolher experiência mais depressa</a:t>
            </a:r>
          </a:p>
          <a:p>
            <a:r>
              <a:t>• Núcleos-hora — núcleos × horas: a moeda que torna comparável o custo dos dois paradigmas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[3:55 → 4:40 · 45 s]</a:t>
            </a:r>
          </a:p>
          <a:p/>
          <a:p>
            <a:r>
              <a:t>Cento e quarenta e sete treinos, cada modelo avaliado em vinte episódios</a:t>
            </a:r>
          </a:p>
          <a:p>
            <a:r>
              <a:t>determinísticos com as mesmas sementes para os três algoritmos. A unidade</a:t>
            </a:r>
          </a:p>
          <a:p>
            <a:r>
              <a:t>estatística é a execução: sete por célula, Mann-Whitney com delta de Cliff. As</a:t>
            </a:r>
          </a:p>
          <a:p>
            <a:r>
              <a:t>campanhas decisivas foram pré-registadas — hipótese, testes e regra de decisão</a:t>
            </a:r>
          </a:p>
          <a:p>
            <a:r>
              <a:t>escritos antes de haver dados. E cada número da tese é conferido por um</a:t>
            </a:r>
          </a:p>
          <a:p>
            <a:r>
              <a:t>verificador contra os ficheiros de avaliação, a cada commit. Isto é o que me</a:t>
            </a:r>
          </a:p>
          <a:p>
            <a:r>
              <a:t>permite dizer que os números são os dos dados.</a:t>
            </a:r>
          </a:p>
          <a:p/>
          <a:p>
            <a:r>
              <a:t>- - - CÁBULA: os termos deste slide (não é para dizer) - - -</a:t>
            </a:r>
          </a:p>
          <a:p/>
          <a:p>
            <a:r>
              <a:t>• Execução (run) — um treino completo, com a sua semente; é a unidade estatística (n = 7 por célula)</a:t>
            </a:r>
          </a:p>
          <a:p>
            <a:r>
              <a:t>• Episódio — uma tentativa do enxame, do início ao fim (2000 passos)</a:t>
            </a:r>
          </a:p>
          <a:p>
            <a:r>
              <a:t>• Avaliação determinística — o modelo já treinado joga sem aleatoriedade na ação, com sementes fixas</a:t>
            </a:r>
          </a:p>
          <a:p>
            <a:r>
              <a:t>• Emparelhados / sementes comuns — os três algoritmos enfrentam exatamente os mesmos 20 episódios</a:t>
            </a:r>
          </a:p>
          <a:p>
            <a:r>
              <a:t>• Mann-Whitney U — teste não-paramétrico: diz se um grupo tende a ter valores maiores que o outro, sem assumir normalidade</a:t>
            </a:r>
          </a:p>
          <a:p>
            <a:r>
              <a:t>• δ de Cliff — tamanho de efeito em [−1, 1]: P(A &gt; B) − P(B &gt; A); |δ| ≥ 0,474 é grande, ±1 é separação total</a:t>
            </a:r>
          </a:p>
          <a:p>
            <a:r>
              <a:t>• Taxa de sucesso (P_task) — fração de episódios com pelo menos uma chegada</a:t>
            </a:r>
          </a:p>
          <a:p>
            <a:r>
              <a:t>• Pré-registo — hipótese, testes e regra de decisão escritos ANTES de haver dados</a:t>
            </a:r>
          </a:p>
          <a:p>
            <a:r>
              <a:t>• Hook de pre-commit — script que corre sozinho antes de cada commit e o recusa se um número deixar de bater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[4:40 → 5:45 · 65 s]</a:t>
            </a:r>
          </a:p>
          <a:p/>
          <a:p>
            <a:r>
              <a:t>Primeira resposta: não há vencedor universal. Quinze das vinte e uma células</a:t>
            </a:r>
          </a:p>
          <a:p>
            <a:r>
              <a:t>estão a cem por cento. O evolutivo, com a fitness de homing, é o especialista em</a:t>
            </a:r>
          </a:p>
          <a:p>
            <a:r>
              <a:t>navegação estruturada — significativamente superior em três cenários, incluindo</a:t>
            </a:r>
          </a:p>
          <a:p>
            <a:r>
              <a:t>os dois cooperativos, e empatado com o PPO nos gargalos. O PPO é o generalista:</a:t>
            </a:r>
          </a:p>
          <a:p>
            <a:r>
              <a:t>converge em tudo menos no Muro em U, com a variância mais baixa, e ganha o</a:t>
            </a:r>
          </a:p>
          <a:p>
            <a:r>
              <a:t>Sandbox onde o evolutivo degenera. O SAC é o mais sensível aos gargalos. E o</a:t>
            </a:r>
          </a:p>
          <a:p>
            <a:r>
              <a:t>Muro em U não é resolvido de forma fiável por nenhum: cada execução ou aprende</a:t>
            </a:r>
          </a:p>
          <a:p>
            <a:r>
              <a:t>o desvio ou não aprende nada.</a:t>
            </a:r>
          </a:p>
          <a:p/>
          <a:p>
            <a:r>
              <a:t>- - - CÁBULA: os termos deste slide (não é para dizer) - - -</a:t>
            </a:r>
          </a:p>
          <a:p/>
          <a:p>
            <a:r>
              <a:t>• Célula — uma combinação algoritmo × cenário (3 × 7 = 21 células)</a:t>
            </a:r>
          </a:p>
          <a:p>
            <a:r>
              <a:t>• δ ≥ +0,71 — em ≥ 85 % dos pares de execuções o GNN supera o outro — efeito grande</a:t>
            </a:r>
          </a:p>
          <a:p>
            <a:r>
              <a:t>• Bimodal — as execuções dividem-se em dois grupos, resolve ou fica a zero, sem nada no meio</a:t>
            </a:r>
          </a:p>
          <a:p>
            <a:r>
              <a:t>• 3/7, 4/7, 2/7 — quantas das 7 execuções chegam a 100 % de sucesso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[5:45 → 6:25 · 40 s]</a:t>
            </a:r>
          </a:p>
          <a:p/>
          <a:p>
            <a:r>
              <a:t>Um ponto de método que muda a leitura. Com sete execuções, um boxplot esconde a</a:t>
            </a:r>
          </a:p>
          <a:p>
            <a:r>
              <a:t>forma. No Muro em U, o GNN tem quatro execuções a zero e três a resolver o</a:t>
            </a:r>
          </a:p>
          <a:p>
            <a:r>
              <a:t>cenário por completo: a média de vinte e quatro chegadas não descreve nenhuma</a:t>
            </a:r>
          </a:p>
          <a:p>
            <a:r>
              <a:t>delas. No Sandbox, o cenário mais simples, o evolutivo é o menos fiável: sem</a:t>
            </a:r>
          </a:p>
          <a:p>
            <a:r>
              <a:t>paredes não há gradiente geodésico que o guie, e duas execuções degeneram. Este</a:t>
            </a:r>
          </a:p>
          <a:p>
            <a:r>
              <a:t>padrão tudo-ou-nada é o fio condutor das duas questões seguintes.</a:t>
            </a:r>
          </a:p>
          <a:p/>
          <a:p>
            <a:r>
              <a:t>- - - CÁBULA: os termos deste slide (não é para dizer) - - -</a:t>
            </a:r>
          </a:p>
          <a:p/>
          <a:p>
            <a:r>
              <a:t>• Boxplot — caixa com mediana e quartis; com 7 pontos, os quartis dependem de 1 ou 2 execuções</a:t>
            </a:r>
          </a:p>
          <a:p>
            <a:r>
              <a:t>• Dot plot — um ponto por execução: mostra a forma real da distribuição</a:t>
            </a:r>
          </a:p>
          <a:p>
            <a:r>
              <a:t>• Gradiente geodésico — a descida da distância-ao-ninho medida contornando paredes; em campo aberto não canaliza nada</a:t>
            </a:r>
          </a:p>
          <a:p>
            <a:r>
              <a:t>• Degenerar — a execução converge para um comportamento inútil (&lt; 1 chegada/ep)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[6:25 → 7:25 · 60 s]</a:t>
            </a:r>
          </a:p>
          <a:p/>
          <a:p>
            <a:r>
              <a:t>A primeira das questões de mecanismo. Nas campanhas exploratórias o evolutivo</a:t>
            </a:r>
          </a:p>
          <a:p>
            <a:r>
              <a:t>colapsava nos labirintos, e a leitura fácil era «limitação do paradigma». Não</a:t>
            </a:r>
          </a:p>
          <a:p>
            <a:r>
              <a:t>era. A fitness inicial somava o retorno acumulado, que se farma a deambular; a</a:t>
            </a:r>
          </a:p>
          <a:p>
            <a:r>
              <a:t>população saturava. Substituí esse termo pelo homing terminal — estar perto do</a:t>
            </a:r>
          </a:p>
          <a:p>
            <a:r>
              <a:t>ninho no fim, medido num potencial geodésico que contorna as paredes. Vinte e</a:t>
            </a:r>
          </a:p>
          <a:p>
            <a:r>
              <a:t>oito execuções de zero para cem por cento. Mas é condição necessária, não</a:t>
            </a:r>
          </a:p>
          <a:p>
            <a:r>
              <a:t>suficiente: o Muro em U continuou bimodal. Faltava a descoberta.</a:t>
            </a:r>
          </a:p>
          <a:p/>
          <a:p>
            <a:r>
              <a:t>- - - CÁBULA: os termos deste slide (não é para dizer) - - -</a:t>
            </a:r>
          </a:p>
          <a:p/>
          <a:p>
            <a:r>
              <a:t>• Fitness exploitation — a população maximiza o termo de shaping sem cumprir a tarefa — o reward hacking da evolução</a:t>
            </a:r>
          </a:p>
          <a:p>
            <a:r>
              <a:t>• Farmável — um termo que se acumula só por andar às voltas, sem nunca chegar ao ninho</a:t>
            </a:r>
          </a:p>
          <a:p>
            <a:r>
              <a:t>• Planalto / pressão seletiva — todos os genomas têm fitness parecida, e a seleção deixa de distinguir bons de maus</a:t>
            </a:r>
          </a:p>
          <a:p>
            <a:r>
              <a:t>• Homing terminal — clip((Φ₀ − Φ_T)/Φ₀, 0, 1): quanto se aproximou do ninho entre o INÍCIO e o FIM — vaguear não o aumenta</a:t>
            </a:r>
          </a:p>
          <a:p>
            <a:r>
              <a:t>• Potencial geodésico Φ — distância ao ninho pelo caminho mais curto que contorna paredes (Dijkstra numa grelha de 0,4 m)</a:t>
            </a:r>
          </a:p>
          <a:p>
            <a:r>
              <a:t>• Euclidiano — distância em linha reta: atravessa as paredes, por isso puxa o enxame para dentro do beco</a:t>
            </a:r>
          </a:p>
          <a:p>
            <a:r>
              <a:t>• Atribuição de crédito — saber que comportamento mereceu a nota; o homing resolve-o, não resolve descobrir o desvio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[7:25 → 8:40 · 75 s]</a:t>
            </a:r>
          </a:p>
          <a:p/>
          <a:p>
            <a:r>
              <a:t>A hibridização com procura por novidade, com orçamento igualado, resolve o</a:t>
            </a:r>
          </a:p>
          <a:p>
            <a:r>
              <a:t>Muro em U em sete de sete execuções — a única configuração que o faz. Mas com</a:t>
            </a:r>
          </a:p>
          <a:p>
            <a:r>
              <a:t>peso fixo degrada o cenário onde o gradiente já bastava. A campanha</a:t>
            </a:r>
          </a:p>
          <a:p>
            <a:r>
              <a:t>pré-registada de dosagem adaptativa — pagar novidade só enquanto ela compra</a:t>
            </a:r>
          </a:p>
          <a:p>
            <a:r>
              <a:t>descoberta — removeu o custo e deu o melhor resultado da tese. E a replicação</a:t>
            </a:r>
          </a:p>
          <a:p>
            <a:r>
              <a:t>com vinte e oito execuções por braço fecha a questão: vinte e oito em vinte e</a:t>
            </a:r>
          </a:p>
          <a:p>
            <a:r>
              <a:t>oito, contra quinze do objetivo puro e catorze de cada método de gradiente. O</a:t>
            </a:r>
          </a:p>
          <a:p>
            <a:r>
              <a:t>GNN objetivo e o PPO são indistinguíveis; o que decide é a dosagem da</a:t>
            </a:r>
          </a:p>
          <a:p>
            <a:r>
              <a:t>exploração, não o paradigma.</a:t>
            </a:r>
          </a:p>
          <a:p/>
          <a:p>
            <a:r>
              <a:t>- - - CÁBULA: os termos deste slide (não é para dizer) - - -</a:t>
            </a:r>
          </a:p>
          <a:p/>
          <a:p>
            <a:r>
              <a:t>• Novelty search — parte da seleção passa a premiar comportamento diferente; o campeão reportado é sempre o melhor no objetivo</a:t>
            </a:r>
          </a:p>
          <a:p>
            <a:r>
              <a:t>• w — o peso da novidade na seleção (w = 0,5: metade objetivo, metade novidade)</a:t>
            </a:r>
          </a:p>
          <a:p>
            <a:r>
              <a:t>• Dosagem adaptativa — w decai depois de a descoberta se sustentar: paga-se exploração só enquanto compra descoberta</a:t>
            </a:r>
          </a:p>
          <a:p>
            <a:r>
              <a:t>• Orçamento igualado — todos os braços com o mesmo tempo de treino (195 min), para a diferença não ser tempo</a:t>
            </a:r>
          </a:p>
          <a:p>
            <a:r>
              <a:t>• Braço — uma das condições comparadas (ex.: GNN adaptativo, GNN objetivo, PPO, SAC)</a:t>
            </a:r>
          </a:p>
          <a:p>
            <a:r>
              <a:t>• Fisher exato — teste para contagens (28/28 vs 15/28): quão improvável seria a diferença por acaso</a:t>
            </a:r>
          </a:p>
          <a:p>
            <a:r>
              <a:t>• p = 0,088 — acima de 0,05: não há evidência de diferença — «indistinguíveis»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[8:40 → 9:30 · 50 s]</a:t>
            </a:r>
          </a:p>
          <a:p/>
          <a:p>
            <a:r>
              <a:t>Escalabilidade. A política do controlador de grafo, treinada com vinte agentes,</a:t>
            </a:r>
          </a:p>
          <a:p>
            <a:r>
              <a:t>transfere para dez, cinquenta e cem — cem por cento de sucesso nas vinte e oito</a:t>
            </a:r>
          </a:p>
          <a:p>
            <a:r>
              <a:t>combinações, incluindo labirintos e tarefas cooperativas, onde a objeção do</a:t>
            </a:r>
          </a:p>
          <a:p>
            <a:r>
              <a:t>congestionamento seria mais plausível. A retenção per capita é mais alta nos</a:t>
            </a:r>
          </a:p>
          <a:p>
            <a:r>
              <a:t>cenários com paredes do que nos abertos: o que se perde no Sandbox é diluição</a:t>
            </a:r>
          </a:p>
          <a:p>
            <a:r>
              <a:t>de um recurso finito, não coordenação. O PPO e o SAC nem sequer podem ser</a:t>
            </a:r>
          </a:p>
          <a:p>
            <a:r>
              <a:t>avaliados fora de N igual a vinte. A vantagem de escala está na representação.</a:t>
            </a:r>
          </a:p>
          <a:p/>
          <a:p>
            <a:r>
              <a:t>- - - CÁBULA: os termos deste slide (não é para dizer) - - -</a:t>
            </a:r>
          </a:p>
          <a:p/>
          <a:p>
            <a:r>
              <a:t>• Zero-shot — treinada com N = 20, testada com 10, 50 e 100 sem retreino</a:t>
            </a:r>
          </a:p>
          <a:p>
            <a:r>
              <a:t>• Chegadas por agente — chegadas por episódio a dividir por N — permite comparar enxames de tamanhos diferentes</a:t>
            </a:r>
          </a:p>
          <a:p>
            <a:r>
              <a:t>• Retenção per capita — chegadas por agente a N = 100 ÷ as de N = 20; mede diluição do recurso, não perda de coordenação</a:t>
            </a:r>
          </a:p>
          <a:p>
            <a:r>
              <a:t>• ℝ¹¹¹ — a MLP recebe um vetor de exatamente 111 números; com outro N o vetor muda de tamanho e a rede não o aceita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[9:30 → 10:00 · 30 s]</a:t>
            </a:r>
          </a:p>
          <a:p/>
          <a:p>
            <a:r>
              <a:t>Robustez: dez por cento dos agentes falham a meio do episódio e ficam inertes.</a:t>
            </a:r>
          </a:p>
          <a:p>
            <a:r>
              <a:t>Os três paradigmas retêm entre noventa e dois e cento e seis por cento das</a:t>
            </a:r>
          </a:p>
          <a:p>
            <a:r>
              <a:t>chegadas, em todas as vinte e uma combinações — mesmo na porta que precisa de</a:t>
            </a:r>
          </a:p>
          <a:p>
            <a:r>
              <a:t>três robôs. A redundância vem da partilha de parâmetros e da observação local.</a:t>
            </a:r>
          </a:p>
          <a:p>
            <a:r>
              <a:t>Sendo transversal, a robustez não discrimina entre paradigmas — e isso é uma</a:t>
            </a:r>
          </a:p>
          <a:p>
            <a:r>
              <a:t>resposta, não uma ausência de resposta.</a:t>
            </a:r>
          </a:p>
          <a:p/>
          <a:p>
            <a:r>
              <a:t>- - - CÁBULA: os termos deste slide (não é para dizer) - - -</a:t>
            </a:r>
          </a:p>
          <a:p/>
          <a:p>
            <a:r>
              <a:t>• Agente inerte — 10 % dos robôs param de repente a meio do episódio e ficam como obstáculos</a:t>
            </a:r>
          </a:p>
          <a:p>
            <a:r>
              <a:t>• Retenção de chegadas — chegadas com falhas ÷ chegadas sem falhas (92–106 % nos três)</a:t>
            </a:r>
          </a:p>
          <a:p>
            <a:r>
              <a:t>• Parameter sharing — todos têm a mesma política: qualquer robô substitui o que falhou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[10:00 → 11:00 · 60 s]</a:t>
            </a:r>
          </a:p>
          <a:p/>
          <a:p>
            <a:r>
              <a:t>A última pergunta testa a objeção mais natural a um benchmark por cenários</a:t>
            </a:r>
          </a:p>
          <a:p>
            <a:r>
              <a:t>isolados. Sem retreino, nenhum controlador faz uma única chegada no mapa</a:t>
            </a:r>
          </a:p>
          <a:p>
            <a:r>
              <a:t>composto — em oitenta e quatro células, com controlos que excluem a escala da</a:t>
            </a:r>
          </a:p>
          <a:p>
            <a:r>
              <a:t>observação e os obstáculos como causa. E o mapa é resolúvel: um navegador</a:t>
            </a:r>
          </a:p>
          <a:p>
            <a:r>
              <a:t>geodésico sem aprendizagem faz cinquenta e três chegadas. Com treino nativo, só</a:t>
            </a:r>
          </a:p>
          <a:p>
            <a:r>
              <a:t>o evolutivo o resolve, em quatro de vinte e uma execuções — abaixo do limiar</a:t>
            </a:r>
          </a:p>
          <a:p>
            <a:r>
              <a:t>pré-registado. Os três mapas mostram um episódio de cada: o evolutivo atravessa</a:t>
            </a:r>
          </a:p>
          <a:p>
            <a:r>
              <a:t>o labirinto até ao ninho; o PPO e o SAC ficam pelo caminho. A resposta é</a:t>
            </a:r>
          </a:p>
          <a:p>
            <a:r>
              <a:t>negativa e está reportada como negativa. O que a composição degrada é a</a:t>
            </a:r>
          </a:p>
          <a:p>
            <a:r>
              <a:t>fiabilidade: é a bimodalidade do Muro em U em ponto grande.</a:t>
            </a:r>
          </a:p>
          <a:p/>
          <a:p>
            <a:r>
              <a:t>- - - CÁBULA: os termos deste slide (não é para dizer) - - -</a:t>
            </a:r>
          </a:p>
          <a:p/>
          <a:p>
            <a:r>
              <a:t>• Mapa composto — labirinto de 103 × 62 m com quatro dificuldades em série: gargalo+U, quatro salas, porta cooperativa, ninho</a:t>
            </a:r>
          </a:p>
          <a:p>
            <a:r>
              <a:t>• Transferência sem retreino — levar os modelos treinados nos cenários pequenos para o mapa grande tal como estão</a:t>
            </a:r>
          </a:p>
          <a:p>
            <a:r>
              <a:t>• Condições de controlo — variações que excluem causas triviais do zero (escala da observação, obstáculos, features da porta)</a:t>
            </a:r>
          </a:p>
          <a:p>
            <a:r>
              <a:t>• Navegador geodésico — controlador escrito à mão que segue o caminho mais curto; não aprende — prova que o mapa é resolúvel</a:t>
            </a:r>
          </a:p>
          <a:p>
            <a:r>
              <a:t>• Treino nativo — treinar de raiz no próprio mapa composto (21 execuções, 780 min cada)</a:t>
            </a:r>
          </a:p>
          <a:p>
            <a:r>
              <a:t>• Limiar pré-registado — 15 execuções convergentes em 21, fixado antes dos dados; ficou em 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[11:00 → 11:40 · 40 s]</a:t>
            </a:r>
          </a:p>
          <a:p/>
          <a:p>
            <a:r>
              <a:t>A síntese prática. Dimensão fixa e cómputo barato: PPO. Dimensão variável ou</a:t>
            </a:r>
          </a:p>
          <a:p>
            <a:r>
              <a:t>escala sem retreino: a arquitetura de grafo é a única opção entre as</a:t>
            </a:r>
          </a:p>
          <a:p>
            <a:r>
              <a:t>estudadas. Navegação estruturada: o evolutivo com homing. Deceção espacial:</a:t>
            </a:r>
          </a:p>
          <a:p>
            <a:r>
              <a:t>novidade doseada adaptativamente. Robustez a falhas não separa ninguém. Em vez</a:t>
            </a:r>
          </a:p>
          <a:p>
            <a:r>
              <a:t>de um vencedor, a tese entrega os eixos que devem ditar a escolha.</a:t>
            </a:r>
          </a:p>
          <a:p/>
          <a:p>
            <a:r>
              <a:t>- - - CÁBULA: os termos deste slide (não é para dizer) - - -</a:t>
            </a:r>
          </a:p>
          <a:p/>
          <a:p>
            <a:r>
              <a:t>• Mapa de escolha — em vez de um vencedor: que método usar consoante a missão</a:t>
            </a:r>
          </a:p>
          <a:p>
            <a:r>
              <a:t>• Dimensão fixa / variável — sabe-se ou não quantos robôs vai ter o enxame na missão</a:t>
            </a:r>
          </a:p>
          <a:p>
            <a:r>
              <a:t>• Núcleos-hora — 12,8 (PPO/SAC) contra 97,6 (evolutivo) por execução — ≈ 8×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[11:40 → 12:20 · 40 s]</a:t>
            </a:r>
          </a:p>
          <a:p/>
          <a:p>
            <a:r>
              <a:t>As limitações vêm antes das perguntas. A arquitetura difere entre paradigmas —</a:t>
            </a:r>
          </a:p>
          <a:p>
            <a:r>
              <a:t>é a primeira, e é deliberadamente lida como o que permite isolar a</a:t>
            </a:r>
          </a:p>
          <a:p>
            <a:r>
              <a:t>representação. Sete execuções são poucas onde a leitura é de contagens; por</a:t>
            </a:r>
          </a:p>
          <a:p>
            <a:r>
              <a:t>isso o Muro em U foi replicado com vinte e oito. Sete células ainda subiam no</a:t>
            </a:r>
          </a:p>
          <a:p>
            <a:r>
              <a:t>fim do orçamento; o SAC nos gargalos é limite inferior. Tudo é simulação. E a</a:t>
            </a:r>
          </a:p>
          <a:p>
            <a:r>
              <a:t>física tem duas costuras nas paredes que uma minoria de modelos explora. Medi</a:t>
            </a:r>
          </a:p>
          <a:p>
            <a:r>
              <a:t>todos os modelos arquivados, um a um: onze atravessam, todos do evolutivo, e na</a:t>
            </a:r>
          </a:p>
          <a:p>
            <a:r>
              <a:t>campanha final são três, nas Quatro Salas — que não ficam melhores por isso, e</a:t>
            </a:r>
          </a:p>
          <a:p>
            <a:r>
              <a:t>continuam muito acima do PPO nesse cenário. Onde a costura pesa mesmo é numa</a:t>
            </a:r>
          </a:p>
          <a:p>
            <a:r>
              <a:t>célula da campanha de dosagem adaptativa, e essa está declarada como</a:t>
            </a:r>
          </a:p>
          <a:p>
            <a:r>
              <a:t>contaminada, não usada como evidência.</a:t>
            </a:r>
          </a:p>
          <a:p/>
          <a:p>
            <a:r>
              <a:t>- - - CÁBULA: os termos deste slide (não é para dizer) - - -</a:t>
            </a:r>
          </a:p>
          <a:p/>
          <a:p>
            <a:r>
              <a:t>• Arquitetura assimétrica — o evolutivo usa GNN com atenção e o PPO/SAC uma MLP: não se separa otimizador de representação</a:t>
            </a:r>
          </a:p>
          <a:p>
            <a:r>
              <a:t>• Limite inferior — o SAC podia fazer melhor com mais treino/afinação; o valor medido é um mínimo</a:t>
            </a:r>
          </a:p>
          <a:p>
            <a:r>
              <a:t>• Temperatura α — no SAC, o peso da entropia (exploração); aqui fixa em 0,1, sem o ajuste automático («dual»)</a:t>
            </a:r>
          </a:p>
          <a:p>
            <a:r>
              <a:t>• Deployment gap — o fosso entre simulação e robô físico — não validado nesta tese</a:t>
            </a:r>
          </a:p>
          <a:p>
            <a:r>
              <a:t>• Costuras da física — dois sítios onde um robô consegue atravessar a parede (no teto e nas junções em T)</a:t>
            </a:r>
          </a:p>
          <a:p>
            <a:r>
              <a:t>• Célula contaminada — resultado afetado pelas costuras: declarado, e não usado como evidência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[12:20 → 12:50 · 30 s]</a:t>
            </a:r>
          </a:p>
          <a:p/>
          <a:p>
            <a:r>
              <a:t>Quatro contributos. O primeiro é metodológico: o colapso do evolutivo era o</a:t>
            </a:r>
          </a:p>
          <a:p>
            <a:r>
              <a:t>sinal de treino, não o paradigma. O segundo é a caracterização da novidade como</a:t>
            </a:r>
          </a:p>
          <a:p>
            <a:r>
              <a:t>instrumento direcionado — e a dosagem adaptativa que remove o seu custo. O</a:t>
            </a:r>
          </a:p>
          <a:p>
            <a:r>
              <a:t>terceiro é o mapa de escolha. O quarto é o repositório: simulador, cenários,</a:t>
            </a:r>
          </a:p>
          <a:p>
            <a:r>
              <a:t>controladores e os verificadores que ligam cada número da tese aos ficheiros de</a:t>
            </a:r>
          </a:p>
          <a:p>
            <a:r>
              <a:t>avaliação.</a:t>
            </a:r>
          </a:p>
          <a:p/>
          <a:p>
            <a:r>
              <a:t>- - - CÁBULA: os termos deste slide (não é para dizer) - - -</a:t>
            </a:r>
          </a:p>
          <a:p/>
          <a:p>
            <a:r>
              <a:t>• Contributo metodológico — sobre como fazer (o desenho da fitness), não sobre qual algoritmo é melhor</a:t>
            </a:r>
          </a:p>
          <a:p>
            <a:r>
              <a:t>• Verificador — script que recalcula um número da tese a partir dos CSV e falha se não bater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[12:50 → 13:25 · 35 s]</a:t>
            </a:r>
          </a:p>
          <a:p/>
          <a:p>
            <a:r>
              <a:t>A hipótese de que a inteligência adaptativa supera a robustez estática</a:t>
            </a:r>
          </a:p>
          <a:p>
            <a:r>
              <a:t>confirma-se só em parte. A vantagem de escala existe — mas está na</a:t>
            </a:r>
          </a:p>
          <a:p>
            <a:r>
              <a:t>representação, não no otimizador. Nos cenários enganadores, o que decide é o</a:t>
            </a:r>
          </a:p>
          <a:p>
            <a:r>
              <a:t>sinal de treino e a exploração doseada. Os métodos de gradiente ficam com a</a:t>
            </a:r>
          </a:p>
          <a:p>
            <a:r>
              <a:t>fiabilidade em espaço aberto e o cómputo barato. E a composição degrada a</a:t>
            </a:r>
          </a:p>
          <a:p>
            <a:r>
              <a:t>fiabilidade antes da magnitude — um resultado negativo, reportado como tal.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[13:25 → 14:25 · 60 s]</a:t>
            </a:r>
          </a:p>
          <a:p/>
          <a:p>
            <a:r>
              <a:t>Antes das perguntas, um minuto ao vivo. Abro o painel na Apresentação, mapa dois:</a:t>
            </a:r>
          </a:p>
          <a:p>
            <a:r>
              <a:t>o Muro em U. Três colunas com os modelos da campanha final — repare-se que cada</a:t>
            </a:r>
          </a:p>
          <a:p>
            <a:r>
              <a:t>execução ou aprende o desvio ou fica a zero: três em sete, quatro em sete, duas</a:t>
            </a:r>
          </a:p>
          <a:p>
            <a:r>
              <a:t>em sete. A quarta coluna é o GNN com novidade doseada adaptativamente: sete em</a:t>
            </a:r>
          </a:p>
          <a:p>
            <a:r>
              <a:t>sete, setenta e oito chegadas. Carrego em Episódio 3D e os quatro enxames</a:t>
            </a:r>
          </a:p>
          <a:p>
            <a:r>
              <a:t>correm ao mesmo tempo. Em baixo, o dot plot com a linha do adaptativo e as</a:t>
            </a:r>
          </a:p>
          <a:p>
            <a:r>
              <a:t>curvas de treino. Qualquer número do painel tem proveniência: dois cliques até</a:t>
            </a:r>
          </a:p>
          <a:p>
            <a:r>
              <a:t>ao CSV. Plano B, se a rede ou o portátil falharem: a captura que está neste</a:t>
            </a:r>
          </a:p>
          <a:p>
            <a:r>
              <a:t>slide, e a figura dos quatro braços — o slide com o rótulo 10 no rodapé.</a:t>
            </a:r>
          </a:p>
          <a:p/>
          <a:p>
            <a:r>
              <a:t>- - - CÁBULA: os termos deste slide (não é para dizer) - - -</a:t>
            </a:r>
          </a:p>
          <a:p/>
          <a:p>
            <a:r>
              <a:t>• Proveniência — no painel, de onde vem cada número: o ficheiro CSV e a linha que o produziu</a:t>
            </a:r>
          </a:p>
          <a:p>
            <a:r>
              <a:t>• Episódio 3D — a vista do painel que desenha os enxames em 3D, a correr ao mesmo tempo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[14:25 → 14:40 · 15 s]</a:t>
            </a:r>
          </a:p>
          <a:p/>
          <a:p>
            <a:r>
              <a:t>Obrigado. O painel tem as trinta campanhas, os vídeos, os episódios em 3D e a</a:t>
            </a:r>
          </a:p>
          <a:p>
            <a:r>
              <a:t>proveniência de cada número — posso mostrar qualquer célula ao vivo. Estou à</a:t>
            </a:r>
          </a:p>
          <a:p>
            <a:r>
              <a:t>disposição para perguntas.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[reserva — fora do tempo da apresentação; só se a pergunta vier]</a:t>
            </a:r>
          </a:p>
          <a:p/>
          <a:p>
            <a:r>
              <a:t>A tabela inteira, para quando a pergunta for por uma célula concreta. Quinze das</a:t>
            </a:r>
          </a:p>
          <a:p>
            <a:r>
              <a:t>vinte e uma estão a cem por cento. As três parcelas de cada célula são chegadas</a:t>
            </a:r>
          </a:p>
          <a:p>
            <a:r>
              <a:t>por episódio, taxa de sucesso e quantas das sete execuções chegaram aos cem por</a:t>
            </a:r>
          </a:p>
          <a:p>
            <a:r>
              <a:t>cento — é a terceira que conta a história, porque é nela que a bimodalidade</a:t>
            </a:r>
          </a:p>
          <a:p>
            <a:r>
              <a:t>aparece.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[reserva — fora do tempo da apresentação; só se a pergunta vier]</a:t>
            </a:r>
          </a:p>
          <a:p/>
          <a:p>
            <a:r>
              <a:t>Os quatro braços lado a lado. A coluna do meio é a replicação com vinte e oito</a:t>
            </a:r>
          </a:p>
          <a:p>
            <a:r>
              <a:t>execuções por braço, que é onde uma leitura por contagens ganha poder. A última</a:t>
            </a:r>
          </a:p>
          <a:p>
            <a:r>
              <a:t>coluna é o preço: com peso fixo, delta menos um; doseada adaptativamente, o</a:t>
            </a:r>
          </a:p>
          <a:p>
            <a:r>
              <a:t>preço desaparece.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[reserva — fora do tempo da apresentação; só se a pergunta vier]</a:t>
            </a:r>
          </a:p>
          <a:p/>
          <a:p>
            <a:r>
              <a:t>O negativo, com os números que o sustentam. A ordem importa: primeiro o zero em</a:t>
            </a:r>
          </a:p>
          <a:p>
            <a:r>
              <a:t>oitenta e quatro células, depois a prova de que o mapa é resolúvel — cinquenta e</a:t>
            </a:r>
          </a:p>
          <a:p>
            <a:r>
              <a:t>três chegadas de um navegador que não aprende nada —, e só então o limiar</a:t>
            </a:r>
          </a:p>
          <a:p>
            <a:r>
              <a:t>pré-registado que não foi atingido. Sem o controlo do meio, o zero seria ambíguo.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[reserva — fora do tempo da apresentação; só se a pergunta vier]</a:t>
            </a:r>
          </a:p>
          <a:p/>
          <a:p>
            <a:r>
              <a:t>Se a pergunta for pela justiça da comparação, é este o slide. A assimetria está</a:t>
            </a:r>
          </a:p>
          <a:p>
            <a:r>
              <a:t>medida, e a conclusão que dela se tira é a que desfavorece o evolutivo: mesmo</a:t>
            </a:r>
          </a:p>
          <a:p>
            <a:r>
              <a:t>custando oito vezes mais, não domina. E a configuração do SAC está declarada —</a:t>
            </a:r>
          </a:p>
          <a:p>
            <a:r>
              <a:t>temperatura fixa, sem o ajuste dual —, pelo que os seus valores são um limite</a:t>
            </a:r>
          </a:p>
          <a:p>
            <a:r>
              <a:t>inferior e não um veredicto sobre o algoritmo.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[reserva — fora do tempo da apresentação; só se a pergunta vier]</a:t>
            </a:r>
          </a:p>
          <a:p/>
          <a:p>
            <a:r>
              <a:t>Se perguntarem o que é, ao certo, resolver o Muro em U: é isto. O mapa de calor</a:t>
            </a:r>
          </a:p>
          <a:p>
            <a:r>
              <a:t>mostra onde o enxame passa o episódio, no modelo campeão de cada algoritmo. O GNN</a:t>
            </a:r>
          </a:p>
          <a:p>
            <a:r>
              <a:t>e o PPO desenham um corredor que sai do beco, contorna o muro e chega ao ninho —</a:t>
            </a:r>
          </a:p>
          <a:p>
            <a:r>
              <a:t>quatrocentas e setenta e seis e quatrocentas e dezanove chegadas em seis episódios. O</a:t>
            </a:r>
          </a:p>
          <a:p>
            <a:r>
              <a:t>SAC nunca encontra esse corredor: a ocupação espalha-se pela arena toda e o total</a:t>
            </a:r>
          </a:p>
          <a:p>
            <a:r>
              <a:t>é zero. Não é uma diferença de magnitude, é outro comportamento — e é esta a</a:t>
            </a:r>
          </a:p>
          <a:p>
            <a:r>
              <a:t>forma da falha que uma média esconde.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[reserva — fora do tempo da apresentação; só se a pergunta vier]</a:t>
            </a:r>
          </a:p>
          <a:p/>
          <a:p>
            <a:r>
              <a:t>A resposta longa à pergunta da confiança. Não é que eu tenha conferido os</a:t>
            </a:r>
          </a:p>
          <a:p>
            <a:r>
              <a:t>números: é que eles são recalculados a cada commit, e o commit é recusado se</a:t>
            </a:r>
          </a:p>
          <a:p>
            <a:r>
              <a:t>algum deixar de bater. E os próprios verificadores são postos à prova — noventa</a:t>
            </a:r>
          </a:p>
          <a:p>
            <a:r>
              <a:t>e duas mutações injetadas na tese, uma de cada vez, cada uma tem de ser</a:t>
            </a:r>
          </a:p>
          <a:p>
            <a:r>
              <a:t>apanhada. A cobertura está medida e publicada, com a lista do que ainda falta,</a:t>
            </a:r>
          </a:p>
          <a:p>
            <a:r>
              <a:t>porque um número de cobertura sem essa lista é uma alegação.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Relationship Id="rId9" Type="http://schemas.openxmlformats.org/officeDocument/2006/relationships/image" Target="../media/image10.png"/><Relationship Id="rId10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1965960"/>
            <a:ext cx="38100" cy="1874519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1417320"/>
            <a:ext cx="1080180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A9A9A"/>
                </a:solidFill>
                <a:latin typeface="Consolas"/>
              </a:rPr>
              <a:t>DISSERTAÇÃO DE MESTRADO · DEFESA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874519"/>
            <a:ext cx="9887407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5F5F5"/>
                </a:solidFill>
                <a:latin typeface="Segoe UI Semibold"/>
              </a:rPr>
              <a:t>Aprendizagem por Reforço Multiagente e Neuroevolução no Controlo de Enxames de Robôs: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3154680"/>
            <a:ext cx="85953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0">
                <a:solidFill>
                  <a:srgbClr val="9A9A9A"/>
                </a:solidFill>
                <a:latin typeface="Segoe UI"/>
              </a:rPr>
              <a:t>Desempenho, Escalabilidade e Robustez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43434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4572000"/>
            <a:ext cx="11094415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F5F5F5"/>
                </a:solidFill>
                <a:latin typeface="Segoe UI"/>
              </a:rPr>
              <a:t>Gonçalo Pombo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9A9A9A"/>
                </a:solidFill>
                <a:latin typeface="Segoe UI"/>
              </a:rPr>
              <a:t>Orientador: Prof. Doutor Luís Nunes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9A9A9A"/>
                </a:solidFill>
                <a:latin typeface="Segoe UI"/>
              </a:rPr>
              <a:t>Mestrado em Inteligência Artificial · ISCTE-IUL · 2026</a:t>
            </a:r>
          </a:p>
        </p:txBody>
      </p:sp>
      <p:pic>
        <p:nvPicPr>
          <p:cNvPr id="9" name="Picture 8" descr="iscte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05695" y="502920"/>
            <a:ext cx="1737360" cy="87971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Roteiro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cinco partes, quinze minutos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719072"/>
            <a:ext cx="914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0">
                <a:solidFill>
                  <a:srgbClr val="9A9A9A"/>
                </a:solidFill>
                <a:latin typeface="Consolas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1691640"/>
            <a:ext cx="8138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100" b="1">
                <a:solidFill>
                  <a:srgbClr val="F5F5F5"/>
                </a:solidFill>
                <a:latin typeface="Segoe UI Semibold"/>
              </a:rPr>
              <a:t>Contexto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057400"/>
            <a:ext cx="8138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o problema, a lacuna na literatura e as sete questões de investigação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14255" y="1810512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>
                <a:solidFill>
                  <a:srgbClr val="9A9A9A"/>
                </a:solidFill>
                <a:latin typeface="Consolas"/>
              </a:rPr>
              <a:t>slides 02–03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48640" y="2441448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48640" y="2542032"/>
            <a:ext cx="914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0">
                <a:solidFill>
                  <a:srgbClr val="9A9A9A"/>
                </a:solidFill>
                <a:latin typeface="Consolas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2514600"/>
            <a:ext cx="8138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100" b="1">
                <a:solidFill>
                  <a:srgbClr val="F5F5F5"/>
                </a:solidFill>
                <a:latin typeface="Segoe UI Semibold"/>
              </a:rPr>
              <a:t>Método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2880360"/>
            <a:ext cx="8138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o simulador e os oito cenários, os três controladores, o protocolo experimental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14255" y="2633472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>
                <a:solidFill>
                  <a:srgbClr val="9A9A9A"/>
                </a:solidFill>
                <a:latin typeface="Consolas"/>
              </a:rPr>
              <a:t>slides 04–06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48640" y="3264408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48640" y="3364992"/>
            <a:ext cx="914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0">
                <a:solidFill>
                  <a:srgbClr val="9A9A9A"/>
                </a:solidFill>
                <a:latin typeface="Consolas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3337560"/>
            <a:ext cx="8138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100" b="1">
                <a:solidFill>
                  <a:srgbClr val="F5F5F5"/>
                </a:solidFill>
                <a:latin typeface="Segoe UI Semibold"/>
              </a:rPr>
              <a:t>Resultados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3703320"/>
            <a:ext cx="8138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as sete questões, pela ordem em que se desbloqueiam: QI1, 5, 6, 2, 3, 7 e 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14255" y="3456432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>
                <a:solidFill>
                  <a:srgbClr val="9A9A9A"/>
                </a:solidFill>
                <a:latin typeface="Consolas"/>
              </a:rPr>
              <a:t>slides 07–14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48640" y="4087368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548640" y="4187952"/>
            <a:ext cx="914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0">
                <a:solidFill>
                  <a:srgbClr val="9A9A9A"/>
                </a:solidFill>
                <a:latin typeface="Consolas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4160520"/>
            <a:ext cx="8138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100" b="1">
                <a:solidFill>
                  <a:srgbClr val="F5F5F5"/>
                </a:solidFill>
                <a:latin typeface="Segoe UI Semibold"/>
              </a:rPr>
              <a:t>Balanço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4526280"/>
            <a:ext cx="8138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as limitações, os contributos e a conclusão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14255" y="4279392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>
                <a:solidFill>
                  <a:srgbClr val="9A9A9A"/>
                </a:solidFill>
                <a:latin typeface="Consolas"/>
              </a:rPr>
              <a:t>slides 15–17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48640" y="4910328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548640" y="5010912"/>
            <a:ext cx="914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0">
                <a:solidFill>
                  <a:srgbClr val="9A9A9A"/>
                </a:solidFill>
                <a:latin typeface="Consolas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54480" y="4983480"/>
            <a:ext cx="8138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100" b="1">
                <a:solidFill>
                  <a:srgbClr val="F5F5F5"/>
                </a:solidFill>
                <a:latin typeface="Segoe UI Semibold"/>
              </a:rPr>
              <a:t>Demo ao vivo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54480" y="5349240"/>
            <a:ext cx="8138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o Muro em U no painel, com a proveniência de cada número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14255" y="5102352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>
                <a:solidFill>
                  <a:srgbClr val="9A9A9A"/>
                </a:solidFill>
                <a:latin typeface="Consolas"/>
              </a:rPr>
              <a:t>slide 18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Aprendizagem por Reforço Multiagente e Neuroevolução · ISCTE-IUL 2026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01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O problema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duas escolas, e nenhuma comparação direta em cenários difíceis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00200"/>
            <a:ext cx="5608015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Robótica de enxame: muitos agentes simples, controlo descentralizado, inteligência nas interações locais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Duas escolas para desenhar o controlador:</a:t>
            </a:r>
          </a:p>
          <a:p>
            <a:pPr algn="l" lvl="1">
              <a:spcAft>
                <a:spcPts val="800"/>
              </a:spcAft>
            </a:pPr>
            <a:r>
              <a:rPr sz="1500" b="0">
                <a:solidFill>
                  <a:srgbClr val="E2E2E2"/>
                </a:solidFill>
                <a:latin typeface="Segoe UI"/>
              </a:rPr>
              <a:t>Otimização bio-inspirada — robustez offline, controladores estáticos</a:t>
            </a:r>
          </a:p>
          <a:p>
            <a:pPr algn="l" lvl="1">
              <a:spcAft>
                <a:spcPts val="800"/>
              </a:spcAft>
            </a:pPr>
            <a:r>
              <a:rPr sz="1500" b="0">
                <a:solidFill>
                  <a:srgbClr val="E2E2E2"/>
                </a:solidFill>
                <a:latin typeface="Segoe UI"/>
              </a:rPr>
              <a:t>MARL — adaptabilidade online, não-estacionaridade, recompensas esparsas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Lacuna (Majid et al., 2024; Bettini et al., 2024): faltam benchmarks diretos, com estatística, em cenários dinâmicos e difíceis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Hipótese de partida: a inteligência adaptativa (MARL) supera a robustez estática bio-inspirada em cenários de stress?</a:t>
            </a:r>
          </a:p>
          <a:p>
            <a:pPr algn="l">
              <a:spcAft>
                <a:spcPts val="800"/>
              </a:spcAft>
            </a:pPr>
            <a:r>
              <a:rPr sz="1700" b="1">
                <a:solidFill>
                  <a:srgbClr val="F5F5F5"/>
                </a:solidFill>
                <a:latin typeface="Segoe UI"/>
              </a:rPr>
              <a:t>A resposta curta: só em parte — e não onde a hipótese a punha.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979615" y="1600200"/>
            <a:ext cx="4206239" cy="4206239"/>
          </a:xfrm>
          <a:prstGeom prst="roundRect">
            <a:avLst>
              <a:gd name="adj" fmla="val 2139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viz_u_w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61911" y="1682496"/>
            <a:ext cx="4041647" cy="4041647"/>
          </a:xfrm>
          <a:prstGeom prst="rect">
            <a:avLst/>
          </a:prstGeom>
        </p:spPr>
      </p:pic>
      <p:cxnSp>
        <p:nvCxnSpPr>
          <p:cNvPr id="10" name="Connector 9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Aprendizagem por Reforço Multiagente e Neuroevolução · ISCTE-IUL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02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Sete questões de investigação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quatro de comparação entre paradigmas, três sobre os mecanismos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00200"/>
            <a:ext cx="11094415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F5F5F5"/>
                </a:solidFill>
                <a:latin typeface="Segoe UI"/>
              </a:rPr>
              <a:t>Nível 1 — comparação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QI1  Desempenho de tarefa: qual paradigma é mais eficaz, e em que cenários?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QI2  Escalabilidade: uma política treinada com N=20 transfere-se para N=10…100 sem retreino?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QI3  Robustez: o que acontece quando 10 % dos agentes falham a meio?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QI4  Critério de escolha: quando preferir um ao outro?</a:t>
            </a:r>
          </a:p>
          <a:p>
            <a:pPr algn="l">
              <a:spcAft>
                <a:spcPts val="800"/>
              </a:spcAft>
            </a:pPr>
            <a:r>
              <a:rPr sz="1700" b="1">
                <a:solidFill>
                  <a:srgbClr val="F5F5F5"/>
                </a:solidFill>
                <a:latin typeface="Segoe UI"/>
              </a:rPr>
              <a:t>Nível 2 — mecanismos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QI5  Desenho da fitness: um shaping de homing desbloqueia o que a fitness pura não resolve?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QI6  Deceção: a procura por novidade ajuda onde o gradiente engana?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QI7  Composição: as conclusões transferem-se para um mapa que junta as dificuldades?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Aprendizagem por Reforço Multiagente e Neuroevolução · ISCTE-IUL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03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O simulador e os oito cenários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navegação cooperativa até ao ninho em 3D, 20 agentes, observação local (LiDAR 8 m)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00200"/>
            <a:ext cx="4754880" cy="4389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  </a:t>
            </a:r>
            <a:r>
              <a:rPr sz="1600" b="0">
                <a:solidFill>
                  <a:srgbClr val="E2E2E2"/>
                </a:solidFill>
                <a:latin typeface="Segoe UI"/>
              </a:rPr>
              <a:t>Tarefa: chegar ao ninho em conjunto, sem objetos para apanhar; perceção cooperativa com alvo móvel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  </a:t>
            </a:r>
            <a:r>
              <a:rPr sz="1600" b="0">
                <a:solidFill>
                  <a:srgbClr val="E2E2E2"/>
                </a:solidFill>
                <a:latin typeface="Segoe UI"/>
              </a:rPr>
              <a:t>Observação local e parcial: LiDAR, bússola ao ninho, vizinhos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  </a:t>
            </a:r>
            <a:r>
              <a:rPr sz="1600" b="0">
                <a:solidFill>
                  <a:srgbClr val="E2E2E2"/>
                </a:solidFill>
                <a:latin typeface="Segoe UI"/>
              </a:rPr>
              <a:t>Sete cenários de dificuldade isolada:</a:t>
            </a:r>
          </a:p>
          <a:p>
            <a:pPr algn="l" lvl="1">
              <a:spcAft>
                <a:spcPts val="800"/>
              </a:spcAft>
            </a:pPr>
            <a:r>
              <a:rPr sz="1400" b="0">
                <a:solidFill>
                  <a:srgbClr val="E2E2E2"/>
                </a:solidFill>
                <a:latin typeface="Segoe UI"/>
              </a:rPr>
              <a:t>Sandbox · Muro em U (deceção espacial) · Gargalo · Quatro Salas</a:t>
            </a:r>
          </a:p>
          <a:p>
            <a:pPr algn="l" lvl="1">
              <a:spcAft>
                <a:spcPts val="800"/>
              </a:spcAft>
            </a:pPr>
            <a:r>
              <a:rPr sz="1400" b="0">
                <a:solidFill>
                  <a:srgbClr val="E2E2E2"/>
                </a:solidFill>
                <a:latin typeface="Segoe UI"/>
              </a:rPr>
              <a:t>Porta Cooperativa (3 robôs) · Perceção Cooperativa · Porta com Alternativa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  </a:t>
            </a:r>
            <a:r>
              <a:rPr sz="1600" b="0">
                <a:solidFill>
                  <a:srgbClr val="E2E2E2"/>
                </a:solidFill>
                <a:latin typeface="Segoe UI"/>
              </a:rPr>
              <a:t>Oitavo: o mapa composto, 103 × 62 m, que junta quatro dificuldades em série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  </a:t>
            </a:r>
            <a:r>
              <a:rPr sz="1600" b="0">
                <a:solidFill>
                  <a:srgbClr val="E2E2E2"/>
                </a:solidFill>
                <a:latin typeface="Segoe UI"/>
              </a:rPr>
              <a:t>Falhas súbitas de agentes e dimensão do enxame variável, para a robustez e a escala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42435" y="1600200"/>
            <a:ext cx="1188359" cy="1325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mapa_3d_n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24731" y="1682496"/>
            <a:ext cx="1023767" cy="1161288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950750" y="1600200"/>
            <a:ext cx="1118434" cy="1325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mapa_3d_u_wa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33046" y="1682496"/>
            <a:ext cx="953842" cy="1161288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8656830" y="1600200"/>
            <a:ext cx="1052977" cy="1325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mapa_3d_bottlenec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39126" y="1682496"/>
            <a:ext cx="888385" cy="1161288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10310453" y="1600200"/>
            <a:ext cx="1092435" cy="1325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mapa_3d_four_room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92749" y="1682496"/>
            <a:ext cx="927843" cy="1161288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5291580" y="3044952"/>
            <a:ext cx="1090070" cy="1325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mapa_3d_cooperative_doo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73876" y="3127248"/>
            <a:ext cx="925478" cy="1161288"/>
          </a:xfrm>
          <a:prstGeom prst="rect">
            <a:avLst/>
          </a:prstGeom>
        </p:spPr>
      </p:pic>
      <p:sp>
        <p:nvSpPr>
          <p:cNvPr id="18" name="Rounded Rectangle 17"/>
          <p:cNvSpPr/>
          <p:nvPr/>
        </p:nvSpPr>
        <p:spPr>
          <a:xfrm>
            <a:off x="6915787" y="3044952"/>
            <a:ext cx="1188359" cy="1325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mapa_3d_cooperative_perceptio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98083" y="3127248"/>
            <a:ext cx="1023767" cy="1161288"/>
          </a:xfrm>
          <a:prstGeom prst="rect">
            <a:avLst/>
          </a:prstGeom>
        </p:spPr>
      </p:pic>
      <p:sp>
        <p:nvSpPr>
          <p:cNvPr id="20" name="Rounded Rectangle 19"/>
          <p:cNvSpPr/>
          <p:nvPr/>
        </p:nvSpPr>
        <p:spPr>
          <a:xfrm>
            <a:off x="8647153" y="3044952"/>
            <a:ext cx="1072332" cy="1325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mapa_3d_cooperative_door_bypass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729449" y="3127248"/>
            <a:ext cx="907740" cy="1161288"/>
          </a:xfrm>
          <a:prstGeom prst="rect">
            <a:avLst/>
          </a:prstGeom>
        </p:spPr>
      </p:pic>
      <p:sp>
        <p:nvSpPr>
          <p:cNvPr id="22" name="Rounded Rectangle 21"/>
          <p:cNvSpPr/>
          <p:nvPr/>
        </p:nvSpPr>
        <p:spPr>
          <a:xfrm>
            <a:off x="7436815" y="4489704"/>
            <a:ext cx="1828800" cy="1828800"/>
          </a:xfrm>
          <a:prstGeom prst="roundRect">
            <a:avLst>
              <a:gd name="adj" fmla="val 4921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mapa_grande_planta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19111" y="4572000"/>
            <a:ext cx="1664208" cy="1664208"/>
          </a:xfrm>
          <a:prstGeom prst="rect">
            <a:avLst/>
          </a:prstGeom>
        </p:spPr>
      </p:pic>
      <p:cxnSp>
        <p:nvCxnSpPr>
          <p:cNvPr id="24" name="Connector 23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Aprendizagem por Reforço Multiagente e Neuroevolução · ISCTE-IUL 2026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04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Os três controladores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o mesmo espaço de observação e ação; execução descentralizada com partilha de parâmetros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00200"/>
            <a:ext cx="1109441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A arquitetura difere entre paradigmas — é uma limitação declarada, e é o que permite atribuir a escalabilidade à representação e não ao otimizador.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414016"/>
          <a:ext cx="11155680" cy="23042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94560"/>
                <a:gridCol w="4480560"/>
                <a:gridCol w="4480560"/>
              </a:tblGrid>
              <a:tr h="384048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PPO / SAC (FRAMEWORK RS2C)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NEUROEVOLUÇÃO (GNN)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Paradigma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MARL por gradiente (on-policy / off-policy)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Otimização bio-inspirada, sem gradientes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Política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MLP sobre observação de vizinhança densa (entrada fixa, ℝ¹¹¹)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Rede de grafos com atenção sobre os vizinhos (invariante a N)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Sinal de treino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Recompensa por passo com shaping geodésico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Fitness: chegadas + homing terminal no potencial geodésico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Orçamento por execução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48 min, 16 ambientes vetorizados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195 min, população de 30 genomas em paralelo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Custo em núcleos-hora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12,8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97,6  (≈ 8×)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cxnSp>
        <p:nvCxnSpPr>
          <p:cNvPr id="9" name="Connector 8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Aprendizagem por Reforço Multiagente e Neuroevolução · ISCTE-IUL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05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O protocolo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o que impede esta tese de mentir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00200"/>
            <a:ext cx="5425135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3 algoritmos × 7 cenários × 7 execuções independentes = 147 treinos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Avaliação determinística: 20 episódios emparelhados por modelo (sementes comuns) — 2 940 episódios na campanha principal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A unidade estatística é a execução, não o episódio: Mann-Whitney U sobre as médias por execução (n = 7), δ de Cliff como tamanho de efeito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Métrica de tarefa pura: chegadas por episódio e taxa de sucesso — comparável entre paradigmas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Três campanhas pré-registadas (hipótese, testes e regra de decisão fixados antes dos dados)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27 verificadores automáticos, 19 no hook de pre-commit: cada número da tese é recalculado a partir dos CSV, e o commit é recusado se algum deixar de bater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39535" y="2244852"/>
            <a:ext cx="5303520" cy="2734056"/>
          </a:xfrm>
          <a:prstGeom prst="roundRect">
            <a:avLst>
              <a:gd name="adj" fmla="val 1696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comparacao_barras_ger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1831" y="2327148"/>
            <a:ext cx="5138928" cy="2569464"/>
          </a:xfrm>
          <a:prstGeom prst="rect">
            <a:avLst/>
          </a:prstGeom>
        </p:spPr>
      </p:pic>
      <p:cxnSp>
        <p:nvCxnSpPr>
          <p:cNvPr id="10" name="Connector 9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Aprendizagem por Reforço Multiagente e Neuroevolução · ISCTE-IUL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06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QI1 — Desempenho de tarefa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não há paradigma dominante; há cenários de cada um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00200"/>
            <a:ext cx="5608015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>
                <a:solidFill>
                  <a:srgbClr val="9A9A9A"/>
                </a:solidFill>
                <a:latin typeface="Segoe UI"/>
              </a:rPr>
              <a:t>▸  </a:t>
            </a:r>
            <a:r>
              <a:rPr sz="1500" b="0">
                <a:solidFill>
                  <a:srgbClr val="E2E2E2"/>
                </a:solidFill>
                <a:latin typeface="Segoe UI"/>
              </a:rPr>
              <a:t>15 das 21 células a 100 % de sucesso em todas as execuções</a:t>
            </a:r>
          </a:p>
          <a:p>
            <a:pPr algn="l">
              <a:spcAft>
                <a:spcPts val="800"/>
              </a:spcAft>
            </a:pPr>
            <a:r>
              <a:rPr sz="1500" b="1">
                <a:solidFill>
                  <a:srgbClr val="2FB583"/>
                </a:solidFill>
                <a:latin typeface="Segoe UI"/>
              </a:rPr>
              <a:t>GNN evolutivo — especialista em navegação estruturada: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E2E2E2"/>
                </a:solidFill>
                <a:latin typeface="Segoe UI"/>
              </a:rPr>
              <a:t>  superior em 3 cenários (Quatro Salas 59,8 vs 33,6 · Porta Cooperativa · Perceção Cooperativa, δ ≥ +0,71); empata com o PPO no Gargalo (121,4 vs 123,2) e na Porta com Alternativa</a:t>
            </a:r>
          </a:p>
          <a:p>
            <a:pPr algn="l">
              <a:spcAft>
                <a:spcPts val="800"/>
              </a:spcAft>
            </a:pPr>
            <a:r>
              <a:rPr sz="1500" b="1">
                <a:solidFill>
                  <a:srgbClr val="EF7850"/>
                </a:solidFill>
                <a:latin typeface="Segoe UI"/>
              </a:rPr>
              <a:t>PPO — o generalista fiável: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E2E2E2"/>
                </a:solidFill>
                <a:latin typeface="Segoe UI"/>
              </a:rPr>
              <a:t>  100 % em seis cenários, a menor variância; ganha o Sandbox (71,5 vs 38,3 do GNN, δ = −1,00)</a:t>
            </a:r>
          </a:p>
          <a:p>
            <a:pPr algn="l">
              <a:spcAft>
                <a:spcPts val="800"/>
              </a:spcAft>
            </a:pPr>
            <a:r>
              <a:rPr sz="1500" b="1">
                <a:solidFill>
                  <a:srgbClr val="5F9FE4"/>
                </a:solidFill>
                <a:latin typeface="Segoe UI"/>
              </a:rPr>
              <a:t>SAC — fiável em espaço aberto, frágil nos gargalos físicos: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E2E2E2"/>
                </a:solidFill>
                <a:latin typeface="Segoe UI"/>
              </a:rPr>
              <a:t>  o único que falha execuções no Gargalo (5/7, 41,4 ± 36,8)</a:t>
            </a:r>
          </a:p>
          <a:p>
            <a:pPr algn="l">
              <a:spcAft>
                <a:spcPts val="800"/>
              </a:spcAft>
            </a:pPr>
            <a:r>
              <a:rPr sz="1500" b="1">
                <a:solidFill>
                  <a:srgbClr val="E2E2E2"/>
                </a:solidFill>
                <a:latin typeface="Segoe UI"/>
              </a:rPr>
              <a:t>Muro em U: ninguém o resolve de forma fiável — bimodal nos três (3/7, 4/7, 2/7).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05849" y="1600200"/>
            <a:ext cx="3353771" cy="2194560"/>
          </a:xfrm>
          <a:prstGeom prst="roundRect">
            <a:avLst>
              <a:gd name="adj" fmla="val 2683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axa_sucesso_por_cenar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88145" y="1682496"/>
            <a:ext cx="3189179" cy="2029968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221858" y="3977640"/>
            <a:ext cx="3721753" cy="2194560"/>
          </a:xfrm>
          <a:prstGeom prst="roundRect">
            <a:avLst>
              <a:gd name="adj" fmla="val 2418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recolhas_por_cenar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04154" y="4059936"/>
            <a:ext cx="3557161" cy="2029968"/>
          </a:xfrm>
          <a:prstGeom prst="rect">
            <a:avLst/>
          </a:prstGeom>
        </p:spPr>
      </p:pic>
      <p:cxnSp>
        <p:nvCxnSpPr>
          <p:cNvPr id="12" name="Connector 11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Aprendizagem por Reforço Multiagente e Neuroevolução · ISCTE-IUL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07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A unidade é a execução — e a forma da distribuição conta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porque se reportam pontos e não caixas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00200"/>
            <a:ext cx="5790895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Com n = 7, os quartis de um boxplot são ruído; a caixa cheia sugere densidade onde não há nenhuma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Muro em U: 4 execuções do GNN a zero e 3 entre 43 e 80 — bimodal, não «média 24,5»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Sandbox: o cenário mais simples é o menos fiável para o evolutivo — 2 execuções degeneram (sem paredes, não há gradiente geodésico que canalize o homing)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A convergência tudo-ou-nada é o padrão em 6 das 21 células — e é o que as QI5 e QI6 explicam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60102" y="1600200"/>
            <a:ext cx="2628145" cy="2194560"/>
          </a:xfrm>
          <a:prstGeom prst="roundRect">
            <a:avLst>
              <a:gd name="adj" fmla="val 3424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otplot_eval_u_w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42398" y="1682496"/>
            <a:ext cx="2463553" cy="2029968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860102" y="3977640"/>
            <a:ext cx="2628145" cy="2194560"/>
          </a:xfrm>
          <a:prstGeom prst="roundRect">
            <a:avLst>
              <a:gd name="adj" fmla="val 3424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dotplot_eval_no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42398" y="4059936"/>
            <a:ext cx="2463553" cy="2029968"/>
          </a:xfrm>
          <a:prstGeom prst="rect">
            <a:avLst/>
          </a:prstGeom>
        </p:spPr>
      </p:pic>
      <p:cxnSp>
        <p:nvCxnSpPr>
          <p:cNvPr id="12" name="Connector 11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Aprendizagem por Reforço Multiagente e Neuroevolução · ISCTE-IUL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08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QI5 — O desenho da fitness decide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o «colapso do evolutivo» era um artefacto do sinal de treino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00200"/>
            <a:ext cx="557784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  </a:t>
            </a:r>
            <a:r>
              <a:rPr sz="1600" b="0">
                <a:solidFill>
                  <a:srgbClr val="E2E2E2"/>
                </a:solidFill>
                <a:latin typeface="Segoe UI"/>
              </a:rPr>
              <a:t>Fitness inicial: chegadas + retorno acumulado do episódio — farmável por deambulação; a população satura num planalto sem pressão seletiva (fitness exploitation)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  </a:t>
            </a:r>
            <a:r>
              <a:rPr sz="1600" b="0">
                <a:solidFill>
                  <a:srgbClr val="E2E2E2"/>
                </a:solidFill>
                <a:latin typeface="Segoe UI"/>
              </a:rPr>
              <a:t>Cura: substituir o retorno pelo homing terminal — proximidade ao ninho no fim do episódio, medida no potencial geodésico (contorna paredes; o euclidiano atrai para dentro do beco)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2FB583"/>
                </a:solidFill>
                <a:latin typeface="Segoe UI"/>
              </a:rPr>
              <a:t>Resultado: de 0 % para 100 % de sucesso nas 28 execuções dos quatro cenários de gargalo.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  </a:t>
            </a:r>
            <a:r>
              <a:rPr sz="1600" b="0">
                <a:solidFill>
                  <a:srgbClr val="E2E2E2"/>
                </a:solidFill>
                <a:latin typeface="Segoe UI"/>
              </a:rPr>
              <a:t>Necessário, não suficiente: resolve a atribuição de crédito, não a descoberta do desvio comprido — o Muro em U continua bimodal (3/7), como nos métodos de gradiente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Aprendizagem por Reforço Multiagente e Neuroevolução · ISCTE-IUL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09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22415" y="1600200"/>
            <a:ext cx="5120640" cy="4434840"/>
          </a:xfrm>
          <a:prstGeom prst="roundRect">
            <a:avLst>
              <a:gd name="adj" fmla="val 4000"/>
            </a:avLst>
          </a:prstGeom>
          <a:solidFill>
            <a:srgbClr val="0E0E0E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42455" y="1828800"/>
            <a:ext cx="4480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A9A9A"/>
                </a:solidFill>
                <a:latin typeface="Consolas"/>
              </a:rPr>
              <a:t>TAXA DE SUCESSO DO GNN EVOLUTIVO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82735" y="2240280"/>
            <a:ext cx="1051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9A9A9A"/>
                </a:solidFill>
                <a:latin typeface="Consolas"/>
              </a:rPr>
              <a:t>fitness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9A9A9A"/>
                </a:solidFill>
                <a:latin typeface="Consolas"/>
              </a:rPr>
              <a:t>inicial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71455" y="2240280"/>
            <a:ext cx="1051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2FB583"/>
                </a:solidFill>
                <a:latin typeface="Consolas"/>
              </a:rPr>
              <a:t>homing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2FB583"/>
                </a:solidFill>
                <a:latin typeface="Consolas"/>
              </a:rPr>
              <a:t>terminal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842455" y="2788920"/>
            <a:ext cx="4480560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842455" y="2898648"/>
            <a:ext cx="21945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F5F5F5"/>
                </a:solidFill>
                <a:latin typeface="Segoe UI"/>
              </a:rPr>
              <a:t>Gargalo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82735" y="2862072"/>
            <a:ext cx="1051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0">
                <a:solidFill>
                  <a:srgbClr val="9A9A9A"/>
                </a:solidFill>
                <a:latin typeface="Consolas"/>
              </a:rPr>
              <a:t>0 %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88575" y="2880360"/>
            <a:ext cx="274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9A9A9A"/>
                </a:solidFill>
                <a:latin typeface="Segoe UI"/>
              </a:rPr>
              <a:t>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71455" y="2862072"/>
            <a:ext cx="1051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1">
                <a:solidFill>
                  <a:srgbClr val="2FB583"/>
                </a:solidFill>
                <a:latin typeface="Consolas"/>
              </a:rPr>
              <a:t>100 %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842455" y="3355848"/>
            <a:ext cx="4480560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42455" y="3465576"/>
            <a:ext cx="21945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F5F5F5"/>
                </a:solidFill>
                <a:latin typeface="Segoe UI"/>
              </a:rPr>
              <a:t>Quatro Salas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82735" y="3429000"/>
            <a:ext cx="1051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0">
                <a:solidFill>
                  <a:srgbClr val="9A9A9A"/>
                </a:solidFill>
                <a:latin typeface="Consolas"/>
              </a:rPr>
              <a:t>0 %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88575" y="3447288"/>
            <a:ext cx="274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9A9A9A"/>
                </a:solidFill>
                <a:latin typeface="Segoe UI"/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71455" y="3429000"/>
            <a:ext cx="1051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1">
                <a:solidFill>
                  <a:srgbClr val="2FB583"/>
                </a:solidFill>
                <a:latin typeface="Consolas"/>
              </a:rPr>
              <a:t>100 %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842455" y="3922776"/>
            <a:ext cx="4480560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842455" y="4032504"/>
            <a:ext cx="21945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F5F5F5"/>
                </a:solidFill>
                <a:latin typeface="Segoe UI"/>
              </a:rPr>
              <a:t>Porta Cooperativa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82735" y="3995928"/>
            <a:ext cx="1051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0">
                <a:solidFill>
                  <a:srgbClr val="9A9A9A"/>
                </a:solidFill>
                <a:latin typeface="Consolas"/>
              </a:rPr>
              <a:t>0 %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88575" y="4014216"/>
            <a:ext cx="274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9A9A9A"/>
                </a:solidFill>
                <a:latin typeface="Segoe UI"/>
              </a:rPr>
              <a:t>→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71455" y="3995928"/>
            <a:ext cx="1051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1">
                <a:solidFill>
                  <a:srgbClr val="2FB583"/>
                </a:solidFill>
                <a:latin typeface="Consolas"/>
              </a:rPr>
              <a:t>100 %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842455" y="4489704"/>
            <a:ext cx="4480560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842455" y="4599432"/>
            <a:ext cx="21945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F5F5F5"/>
                </a:solidFill>
                <a:latin typeface="Segoe UI"/>
              </a:rPr>
              <a:t>Porta com Alternativa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82735" y="4562856"/>
            <a:ext cx="1051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0">
                <a:solidFill>
                  <a:srgbClr val="9A9A9A"/>
                </a:solidFill>
                <a:latin typeface="Consolas"/>
              </a:rPr>
              <a:t>0 %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88575" y="4581144"/>
            <a:ext cx="274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9A9A9A"/>
                </a:solidFill>
                <a:latin typeface="Segoe UI"/>
              </a:rPr>
              <a:t>→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271455" y="4562856"/>
            <a:ext cx="1051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1">
                <a:solidFill>
                  <a:srgbClr val="2FB583"/>
                </a:solidFill>
                <a:latin typeface="Consolas"/>
              </a:rPr>
              <a:t>100 %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6842455" y="5056632"/>
            <a:ext cx="4480560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6842455" y="5239512"/>
            <a:ext cx="44805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F5F5F5"/>
                </a:solidFill>
                <a:latin typeface="Segoe UI"/>
              </a:rPr>
              <a:t>28 execuções, 7 por cenário: todas a 100 %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9A9A9A"/>
                </a:solidFill>
                <a:latin typeface="Segoe UI"/>
              </a:rPr>
              <a:t>Muro em U, com o mesmo homing: 3/7 — bimodal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QI6 — Deceção e procura por novidade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a exploração tem preço; doseada, deixa de ter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00200"/>
            <a:ext cx="5608015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>
                <a:solidFill>
                  <a:srgbClr val="9A9A9A"/>
                </a:solidFill>
                <a:latin typeface="Segoe UI"/>
              </a:rPr>
              <a:t>▸  </a:t>
            </a:r>
            <a:r>
              <a:rPr sz="1500" b="0">
                <a:solidFill>
                  <a:srgbClr val="E2E2E2"/>
                </a:solidFill>
                <a:latin typeface="Segoe UI"/>
              </a:rPr>
              <a:t>Novidade com peso fixo (w = 0,5), orçamento igualado: Muro em U passa de 3/7 para 7/7 (69,8 vs 24,5; p = 0,026, δ = +0,71) — mas custa na Porta com Alternativa (63,0 vs 86,7; δ = −1,00)</a:t>
            </a: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9A9A9A"/>
                </a:solidFill>
                <a:latin typeface="Segoe UI"/>
              </a:rPr>
              <a:t>▸  </a:t>
            </a:r>
            <a:r>
              <a:rPr sz="1500" b="0">
                <a:solidFill>
                  <a:srgbClr val="E2E2E2"/>
                </a:solidFill>
                <a:latin typeface="Segoe UI"/>
              </a:rPr>
              <a:t>Dosagem adaptativa (pré-registada): w decai após a descoberta sustentada → mantém 7/7 no Muro em U, sem custo significativo em nenhum dos outros seis; com o dobro do orçamento, 88,7 ± 0,6 — o melhor resultado da dissertação</a:t>
            </a: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9A9A9A"/>
                </a:solidFill>
                <a:latin typeface="Segoe UI"/>
              </a:rPr>
              <a:t>▸  </a:t>
            </a:r>
            <a:r>
              <a:rPr sz="1500" b="0">
                <a:solidFill>
                  <a:srgbClr val="E2E2E2"/>
                </a:solidFill>
                <a:latin typeface="Segoe UI"/>
              </a:rPr>
              <a:t>O ganho não se compra com orçamento: o objetivo puro com 390 min continua bimodal (4/7)</a:t>
            </a:r>
          </a:p>
          <a:p>
            <a:pPr algn="l">
              <a:spcAft>
                <a:spcPts val="800"/>
              </a:spcAft>
            </a:pPr>
            <a:r>
              <a:rPr sz="1500" b="1">
                <a:solidFill>
                  <a:srgbClr val="F5F5F5"/>
                </a:solidFill>
                <a:latin typeface="Segoe UI"/>
              </a:rPr>
              <a:t>Replicação a n = 28: 28/28 execuções resolvidas, contra 15/28 do objetivo puro e 14/28 do PPO e do SAC (Fisher exato, p &lt; 0,0001).</a:t>
            </a: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9A9A9A"/>
                </a:solidFill>
                <a:latin typeface="Segoe UI"/>
              </a:rPr>
              <a:t>▸  </a:t>
            </a:r>
            <a:r>
              <a:rPr sz="1500" b="0">
                <a:solidFill>
                  <a:srgbClr val="E2E2E2"/>
                </a:solidFill>
                <a:latin typeface="Segoe UI"/>
              </a:rPr>
              <a:t>GNN objetivo e PPO indistinguíveis (p = 0,088): o que separa os braços é a dosagem da exploração, não o paradigma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89365" y="1600200"/>
            <a:ext cx="4586740" cy="4572000"/>
          </a:xfrm>
          <a:prstGeom prst="roundRect">
            <a:avLst>
              <a:gd name="adj" fmla="val 1962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megatreino_u_wall_4brac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1661" y="1682496"/>
            <a:ext cx="4422148" cy="4407408"/>
          </a:xfrm>
          <a:prstGeom prst="rect">
            <a:avLst/>
          </a:prstGeom>
        </p:spPr>
      </p:pic>
      <p:cxnSp>
        <p:nvCxnSpPr>
          <p:cNvPr id="10" name="Connector 9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Aprendizagem por Reforço Multiagente e Neuroevolução · ISCTE-IUL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QI2 — Escalabilidade Zero-Shot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só a arquitetura de grafo transfere de N = 10 a N = 100 sem retreino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00200"/>
            <a:ext cx="11094415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  </a:t>
            </a:r>
            <a:r>
              <a:rPr sz="1600" b="0">
                <a:solidFill>
                  <a:srgbClr val="E2E2E2"/>
                </a:solidFill>
                <a:latin typeface="Segoe UI"/>
              </a:rPr>
              <a:t>100 % de sucesso nas 28 combinações cenário × dimensão (chegadas por agente na tabela)</a:t>
            </a:r>
          </a:p>
          <a:p>
            <a:pPr algn="l">
              <a:spcAft>
                <a:spcPts val="6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  </a:t>
            </a:r>
            <a:r>
              <a:rPr sz="1600" b="0">
                <a:solidFill>
                  <a:srgbClr val="E2E2E2"/>
                </a:solidFill>
                <a:latin typeface="Segoe UI"/>
              </a:rPr>
              <a:t>PPO/SAC: a MLP de entrada fixa (ℝ¹¹¹) é estruturalmente incompatível com N ≠ 20 — não é um resultado fraco, é o resultado</a:t>
            </a:r>
          </a:p>
          <a:p>
            <a:pPr algn="l">
              <a:spcAft>
                <a:spcPts val="6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  </a:t>
            </a:r>
            <a:r>
              <a:rPr sz="1600" b="1">
                <a:solidFill>
                  <a:srgbClr val="E2E2E2"/>
                </a:solidFill>
                <a:latin typeface="Segoe UI"/>
              </a:rPr>
              <a:t>A retenção é maior nos cenários com paredes: a estrutura atenua a diluição do recurso, não a agrava. Zero-shot é uma propriedade da representação, não do otimizador.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3291840"/>
          <a:ext cx="11064240" cy="28346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926080"/>
                <a:gridCol w="1463040"/>
                <a:gridCol w="1463040"/>
                <a:gridCol w="1463040"/>
                <a:gridCol w="1463040"/>
                <a:gridCol w="2286000"/>
              </a:tblGrid>
              <a:tr h="35433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CENÁRIO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N=10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N=20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N=50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N=100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RETENÇÃO PER CAPITA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5433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Sandbox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3,74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3,29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1,95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1,27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39 %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5433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Perceção Cooperativa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1,64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1,30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0,83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0,59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45 %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5433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Gargalo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6,92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6,93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5,96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4,04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58 %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5433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Quatro Salas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3,60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3,86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3,26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2,54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66 %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5433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Muro em U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3,84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4,01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3,81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3,14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78 %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5433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Porta Cooperativa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3,40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3,54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3,41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3,12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88 %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5433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Porta com Alternativa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4,31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4,50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4,44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4,06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90 %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cxnSp>
        <p:nvCxnSpPr>
          <p:cNvPr id="9" name="Connector 8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Aprendizagem por Reforço Multiagente e Neuroevolução · ISCTE-IUL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QI3 — Robustez a falhas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10 % dos agentes ficam inertes a meio do episódio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00200"/>
            <a:ext cx="4693615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Retenção de chegadas entre 92 % e 106 % nas 21 combinações algoritmo–cenário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Inclui a Porta Cooperativa, que exige três agentes simultâneos: o enxame redistribui-se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Transversal aos paradigmas: a redundância vem do parameter sharing e da observação local — nenhum agente é insubstituível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Consequência para a QI4: a robustez não é critério de escolha entre paradigmas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003564" y="1600200"/>
            <a:ext cx="3243942" cy="4206240"/>
          </a:xfrm>
          <a:prstGeom prst="roundRect">
            <a:avLst>
              <a:gd name="adj" fmla="val 2774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robustez_falh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5860" y="1682496"/>
            <a:ext cx="3079350" cy="4041648"/>
          </a:xfrm>
          <a:prstGeom prst="rect">
            <a:avLst/>
          </a:prstGeom>
        </p:spPr>
      </p:pic>
      <p:cxnSp>
        <p:nvCxnSpPr>
          <p:cNvPr id="10" name="Connector 9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Aprendizagem por Reforço Multiagente e Neuroevolução · ISCTE-IUL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QI7 — Composição de dificuldades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um labirinto de 103 × 62 m que junta quatro dificuldades em série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481328"/>
            <a:ext cx="360669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1">
                <a:solidFill>
                  <a:srgbClr val="2FB583"/>
                </a:solidFill>
                <a:latin typeface="Segoe UI"/>
              </a:rPr>
              <a:t>GNN evolutivo · 8 chegadas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783380"/>
            <a:ext cx="3606698" cy="2285400"/>
          </a:xfrm>
          <a:prstGeom prst="roundRect">
            <a:avLst>
              <a:gd name="adj" fmla="val 2495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rastos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" y="1865676"/>
            <a:ext cx="3442106" cy="212080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292498" y="1481328"/>
            <a:ext cx="360669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1">
                <a:solidFill>
                  <a:srgbClr val="EF7850"/>
                </a:solidFill>
                <a:latin typeface="Segoe UI"/>
              </a:rPr>
              <a:t>PPO · 0 chegadas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2498" y="1783380"/>
            <a:ext cx="3606698" cy="2285400"/>
          </a:xfrm>
          <a:prstGeom prst="roundRect">
            <a:avLst>
              <a:gd name="adj" fmla="val 2495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rastos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74794" y="1865676"/>
            <a:ext cx="3442106" cy="21208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036356" y="1481328"/>
            <a:ext cx="360669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1">
                <a:solidFill>
                  <a:srgbClr val="5F9FE4"/>
                </a:solidFill>
                <a:latin typeface="Segoe UI"/>
              </a:rPr>
              <a:t>SAC · 0 chegadas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36356" y="1785484"/>
            <a:ext cx="3606698" cy="2281192"/>
          </a:xfrm>
          <a:prstGeom prst="roundRect">
            <a:avLst>
              <a:gd name="adj" fmla="val 2495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rastos_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18652" y="1867780"/>
            <a:ext cx="3442106" cy="21166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48640" y="4087368"/>
            <a:ext cx="1109441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9A9A9A"/>
                </a:solidFill>
                <a:latin typeface="Segoe UI"/>
              </a:rPr>
              <a:t>um episódio de cada, mesmas sementes · o ninho à direita · pontos brancos: partida; cheios: onde acabaram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434840"/>
            <a:ext cx="11094415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>
                <a:solidFill>
                  <a:srgbClr val="9A9A9A"/>
                </a:solidFill>
                <a:latin typeface="Segoe UI"/>
              </a:rPr>
              <a:t>▸  </a:t>
            </a:r>
            <a:r>
              <a:rPr sz="1500" b="0">
                <a:solidFill>
                  <a:srgbClr val="E2E2E2"/>
                </a:solidFill>
                <a:latin typeface="Segoe UI"/>
              </a:rPr>
              <a:t>Sem retreino: zero chegadas em 84 de 84 células (1 680 episódios) — e o mapa é resolúvel: um navegador geodésico sem aprendizagem faz 53,0 chegadas/ep</a:t>
            </a:r>
          </a:p>
          <a:p>
            <a:pPr algn="l">
              <a:spcAft>
                <a:spcPts val="600"/>
              </a:spcAft>
            </a:pPr>
            <a:r>
              <a:rPr sz="1500">
                <a:solidFill>
                  <a:srgbClr val="9A9A9A"/>
                </a:solidFill>
                <a:latin typeface="Segoe UI"/>
              </a:rPr>
              <a:t>▸  </a:t>
            </a:r>
            <a:r>
              <a:rPr sz="1500" b="0">
                <a:solidFill>
                  <a:srgbClr val="E2E2E2"/>
                </a:solidFill>
                <a:latin typeface="Segoe UI"/>
              </a:rPr>
              <a:t>Treino nativo, 21 execuções por algoritmo: só o evolutivo passa — em 4 de 21, abaixo do limiar de 15 fixado antes dos dados; em 19 das 21 a fitness ainda subia no fim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F5F5F5"/>
                </a:solidFill>
                <a:latin typeface="Segoe UI"/>
              </a:rPr>
              <a:t>A resposta à QI7 é negativa: a composição degrada a fiabilidade, não a magnitude — a bimodalidade do Muro em U em ponto grande.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Aprendizagem por Reforço Multiagente e Neuroevolução · ISCTE-IUL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QI4 — Critério de escolha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não há vencedor universal; há um mapa de escolha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600200"/>
          <a:ext cx="11155680" cy="23042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023360"/>
                <a:gridCol w="3291840"/>
                <a:gridCol w="3840480"/>
              </a:tblGrid>
              <a:tr h="384048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SE A MISSÃO…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ENTÃO…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PORQUÊ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tem enxame de dimensão fixa e conhecida, e prioriza eficiência e cómputo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MARL por gradiente (PPO)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100 % em seis cenários, menor variância, ≈ 8× mais barato (12,8 vs 97,6 núcleos-hora)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tem dimensão variável ou desconhecida, ou exige escalar sem retreino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arquitetura de grafo com atenção (aqui, evolutiva)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única a transferir de N=10 a N=100: 100 % em 28/28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tem navegação estruturada (gargalos, salas, portas cooperativas)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evolutivo com fitness de homing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superior em 3 cenários, empate nos outros gargalos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tem deceção espacial (gradiente enganador)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neuroevolução + novidade doseada adaptativamente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28/28 no Muro em U; sem custo nos outros seis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exige tolerância a falhas de agentes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qualquer dos três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92–106 % de retenção — não discrimina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cxnSp>
        <p:nvCxnSpPr>
          <p:cNvPr id="8" name="Connector 7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Aprendizagem por Reforço Multiagente e Neuroevolução · ISCTE-IUL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Limitações — as que admito primeiro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declaradas na dissertação, com os números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00200"/>
            <a:ext cx="5973775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>
                <a:solidFill>
                  <a:srgbClr val="9A9A9A"/>
                </a:solidFill>
                <a:latin typeface="Segoe UI"/>
              </a:rPr>
              <a:t>▸  </a:t>
            </a:r>
            <a:r>
              <a:rPr sz="1500" b="0">
                <a:solidFill>
                  <a:srgbClr val="E2E2E2"/>
                </a:solidFill>
                <a:latin typeface="Segoe UI"/>
              </a:rPr>
              <a:t>Arquitetura assimétrica: atenção sobre grafo só no evolutivo; PPO/SAC com MLP — a comparação combina otimizador e representação (trabalho futuro n.º 1: a mesma arquitetura por gradiente)</a:t>
            </a: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9A9A9A"/>
                </a:solidFill>
                <a:latin typeface="Segoe UI"/>
              </a:rPr>
              <a:t>▸  </a:t>
            </a:r>
            <a:r>
              <a:rPr sz="1500" b="0">
                <a:solidFill>
                  <a:srgbClr val="E2E2E2"/>
                </a:solidFill>
                <a:latin typeface="Segoe UI"/>
              </a:rPr>
              <a:t>Sete execuções por célula: onde a leitura depende de contagens, replicou-se a n = 28</a:t>
            </a: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9A9A9A"/>
                </a:solidFill>
                <a:latin typeface="Segoe UI"/>
              </a:rPr>
              <a:t>▸  </a:t>
            </a:r>
            <a:r>
              <a:rPr sz="1500" b="0">
                <a:solidFill>
                  <a:srgbClr val="E2E2E2"/>
                </a:solidFill>
                <a:latin typeface="Segoe UI"/>
              </a:rPr>
              <a:t>Orçamento: 7 das 21 células ainda subiam no fim — o SAC nos gargalos lê-se como limite inferior (temperatura fixa, α = 0,1)</a:t>
            </a: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9A9A9A"/>
                </a:solidFill>
                <a:latin typeface="Segoe UI"/>
              </a:rPr>
              <a:t>▸  </a:t>
            </a:r>
            <a:r>
              <a:rPr sz="1500" b="0">
                <a:solidFill>
                  <a:srgbClr val="E2E2E2"/>
                </a:solidFill>
                <a:latin typeface="Segoe UI"/>
              </a:rPr>
              <a:t>Só simulação: o fosso de implantação fica por validar</a:t>
            </a: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9A9A9A"/>
                </a:solidFill>
                <a:latin typeface="Segoe UI"/>
              </a:rPr>
              <a:t>▸  </a:t>
            </a:r>
            <a:r>
              <a:rPr sz="1500" b="0">
                <a:solidFill>
                  <a:srgbClr val="E2E2E2"/>
                </a:solidFill>
                <a:latin typeface="Segoe UI"/>
              </a:rPr>
              <a:t>Dimensão vertical usada mas não observada; duas costuras na física das paredes — 11 de 343 modelos arquivados atravessam-nas, todos do evolutivo; na campanha final são 3 de 70 (Quatro Salas), e não as tornam melhores (55,7 vs 60,3 chegadas/ep). Onde a costura pesa é numa célula da campanha adaptativa — Quatro Salas —, declarada como contaminada</a:t>
            </a: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9A9A9A"/>
                </a:solidFill>
                <a:latin typeface="Segoe UI"/>
              </a:rPr>
              <a:t>▸  </a:t>
            </a:r>
            <a:r>
              <a:rPr sz="1500" b="0">
                <a:solidFill>
                  <a:srgbClr val="E2E2E2"/>
                </a:solidFill>
                <a:latin typeface="Segoe UI"/>
              </a:rPr>
              <a:t>QI7 sobre um único mapa composto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88175" y="1729825"/>
            <a:ext cx="4754880" cy="3946989"/>
          </a:xfrm>
          <a:prstGeom prst="roundRect">
            <a:avLst>
              <a:gd name="adj" fmla="val 1892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otplot_eval_bottlen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70471" y="1812121"/>
            <a:ext cx="4590288" cy="3782397"/>
          </a:xfrm>
          <a:prstGeom prst="rect">
            <a:avLst/>
          </a:prstGeom>
        </p:spPr>
      </p:pic>
      <p:cxnSp>
        <p:nvCxnSpPr>
          <p:cNvPr id="10" name="Connector 9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Aprendizagem por Reforço Multiagente e Neuroevolução · ISCTE-IUL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Contributos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1600200"/>
            <a:ext cx="5790895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E2E2E2"/>
                </a:solidFill>
                <a:latin typeface="Segoe UI"/>
              </a:rPr>
              <a:t>1. O desenho da fitness como causa e cura do colapso evolutivo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E2E2E2"/>
                </a:solidFill>
                <a:latin typeface="Segoe UI"/>
              </a:rPr>
              <a:t>  o homing terminal no potencial geodésico levou 28 execuções de 0 % a 100 % — o principal contributo metodológico</a:t>
            </a:r>
          </a:p>
          <a:p>
            <a:pPr algn="l">
              <a:spcAft>
                <a:spcPts val="800"/>
              </a:spcAft>
            </a:pPr>
            <a:r>
              <a:rPr sz="1700" b="1">
                <a:solidFill>
                  <a:srgbClr val="E2E2E2"/>
                </a:solidFill>
                <a:latin typeface="Segoe UI"/>
              </a:rPr>
              <a:t>2. Caracterização condicional da procura por novidade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E2E2E2"/>
                </a:solidFill>
                <a:latin typeface="Segoe UI"/>
              </a:rPr>
              <a:t>  resolve a deceção espacial (28/28) e, doseada adaptativamente, deixa de custar onde o gradiente basta</a:t>
            </a:r>
          </a:p>
          <a:p>
            <a:pPr algn="l">
              <a:spcAft>
                <a:spcPts val="800"/>
              </a:spcAft>
            </a:pPr>
            <a:r>
              <a:rPr sz="1700" b="1">
                <a:solidFill>
                  <a:srgbClr val="E2E2E2"/>
                </a:solidFill>
                <a:latin typeface="Segoe UI"/>
              </a:rPr>
              <a:t>3. Um mapa de escolha para engenharia de enxames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E2E2E2"/>
                </a:solidFill>
                <a:latin typeface="Segoe UI"/>
              </a:rPr>
              <a:t>  estrutura do cenário, variabilidade de N e cómputo, em vez de um vencedor universal</a:t>
            </a:r>
          </a:p>
          <a:p>
            <a:pPr algn="l">
              <a:spcAft>
                <a:spcPts val="800"/>
              </a:spcAft>
            </a:pPr>
            <a:r>
              <a:rPr sz="1700" b="1">
                <a:solidFill>
                  <a:srgbClr val="E2E2E2"/>
                </a:solidFill>
                <a:latin typeface="Segoe UI"/>
              </a:rPr>
              <a:t>4. Uma implementação de referência aberta e verificável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E2E2E2"/>
                </a:solidFill>
                <a:latin typeface="Segoe UI"/>
              </a:rPr>
              <a:t>  simulador, oito cenários, RS2C e neuroevolução; 27 verificadores ligam cada número aos dados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05295" y="2037969"/>
            <a:ext cx="4937760" cy="3147822"/>
          </a:xfrm>
          <a:prstGeom prst="roundRect">
            <a:avLst>
              <a:gd name="adj" fmla="val 1822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escalabilidade_zeroshot_n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7591" y="2120265"/>
            <a:ext cx="4773168" cy="2983230"/>
          </a:xfrm>
          <a:prstGeom prst="rect">
            <a:avLst/>
          </a:prstGeom>
        </p:spPr>
      </p:pic>
      <p:cxnSp>
        <p:nvCxnSpPr>
          <p:cNvPr id="9" name="Connector 8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Aprendizagem por Reforço Multiagente e Neuroevolução · ISCTE-IUL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16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Conclusão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a hipótese confirma-se só em parte — e não onde a punha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737360"/>
            <a:ext cx="11094415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600"/>
              </a:spcAft>
            </a:pPr>
            <a:r>
              <a:rPr sz="2200" b="1">
                <a:solidFill>
                  <a:srgbClr val="F5F5F5"/>
                </a:solidFill>
                <a:latin typeface="Segoe UI"/>
              </a:rPr>
              <a:t>A vantagem de escala reside na representação — o grafo com atenção —, não no algoritmo de otimização.</a:t>
            </a:r>
          </a:p>
          <a:p>
            <a:pPr algn="l">
              <a:spcAft>
                <a:spcPts val="1600"/>
              </a:spcAft>
            </a:pPr>
            <a:r>
              <a:rPr sz="2200" b="1">
                <a:solidFill>
                  <a:srgbClr val="F5F5F5"/>
                </a:solidFill>
                <a:latin typeface="Segoe UI"/>
              </a:rPr>
              <a:t>Nos cenários de gradiente enganador, o que decide é o desenho do sinal de treino e a exploração doseada adaptativamente — não o paradigma.</a:t>
            </a:r>
          </a:p>
          <a:p>
            <a:pPr algn="l">
              <a:spcAft>
                <a:spcPts val="1600"/>
              </a:spcAft>
            </a:pPr>
            <a:r>
              <a:rPr sz="2000" b="0">
                <a:solidFill>
                  <a:srgbClr val="E2E2E2"/>
                </a:solidFill>
                <a:latin typeface="Segoe UI"/>
              </a:rPr>
              <a:t>Os métodos de gradiente ficam com a fiabilidade em espaço aberto e com ≈ 8× menos cómputo.</a:t>
            </a:r>
          </a:p>
          <a:p>
            <a:pPr algn="l">
              <a:spcAft>
                <a:spcPts val="1600"/>
              </a:spcAft>
            </a:pPr>
            <a:r>
              <a:rPr sz="2000" b="0">
                <a:solidFill>
                  <a:srgbClr val="E2E2E2"/>
                </a:solidFill>
                <a:latin typeface="Segoe UI"/>
              </a:rPr>
              <a:t>A composição de dificuldades degrada a fiabilidade antes da magnitude — e isso está reportado como resultado negativo, com o número à vista.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Aprendizagem por Reforço Multiagente e Neuroevolução · ISCTE-IUL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17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Demo ao vivo — o Muro em U no painel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os três modelos a correr lado a lado, o vencedor em destaque, e a proveniência de cada número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548640" y="1809777"/>
            <a:ext cx="7589520" cy="3787085"/>
          </a:xfrm>
          <a:prstGeom prst="roundRect">
            <a:avLst>
              <a:gd name="adj" fmla="val 1185"/>
            </a:avLst>
          </a:prstGeom>
          <a:solidFill>
            <a:srgbClr val="0E0E0E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demo_muro_em_u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" y="1892073"/>
            <a:ext cx="7424928" cy="362249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412480" y="1554480"/>
            <a:ext cx="3230575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5F5F5"/>
                </a:solidFill>
                <a:latin typeface="Segoe UI"/>
              </a:rPr>
              <a:t>O que mostrar, por esta ordem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E2E2E2"/>
                </a:solidFill>
                <a:latin typeface="Segoe UI"/>
              </a:rPr>
              <a:t>1. Os três da campanha final: 3/7, 4/7 e 2/7 — cada execução ou aprende o desvio ou fica a zero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E2E2E2"/>
                </a:solidFill>
                <a:latin typeface="Segoe UI"/>
              </a:rPr>
              <a:t>2. A 4.ª coluna: o GNN com novidade adaptativa — 7/7, 77,8 chegadas/ep (o «melhor»)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E2E2E2"/>
                </a:solidFill>
                <a:latin typeface="Segoe UI"/>
              </a:rPr>
              <a:t>3. Toggle «Episódio 3D»: os quatro enxames em 3D ao mesmo tempo; arrastar para rodar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E2E2E2"/>
                </a:solidFill>
                <a:latin typeface="Segoe UI"/>
              </a:rPr>
              <a:t>4. Em baixo: o dot plot com a linha do adaptativo, e as curvas de treino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E2E2E2"/>
                </a:solidFill>
                <a:latin typeface="Segoe UI"/>
              </a:rPr>
              <a:t>5. Se perguntarem «de onde vem este número?»: Proveniência — dois cliques até ao CSV</a:t>
            </a:r>
          </a:p>
          <a:p>
            <a:pPr algn="l">
              <a:spcAft>
                <a:spcPts val="600"/>
              </a:spcAft>
            </a:pPr>
            <a:r>
              <a:rPr sz="800" b="0">
                <a:solidFill>
                  <a:srgbClr val="E2E2E2"/>
                </a:solidFill>
                <a:latin typeface="Segoe UI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9A9A9A"/>
                </a:solidFill>
                <a:latin typeface="Segoe UI"/>
              </a:rPr>
              <a:t>Painel: localhost:8080 (portátil) · swarmroboticsgs.duckdns.org (Pi)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9A9A9A"/>
                </a:solidFill>
                <a:latin typeface="Segoe UI"/>
              </a:rPr>
              <a:t>Setas do teclado mudam de mapa · plano B: a captura aqui ao lado, e a figura dos quatro braços do rodapé 10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Aprendizagem por Reforço Multiagente e Neuroevolução · ISCTE-IUL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18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2286000"/>
            <a:ext cx="38100" cy="77724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2194560"/>
            <a:ext cx="11094415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F5F5F5"/>
                </a:solidFill>
                <a:latin typeface="Segoe UI Semibold"/>
              </a:rPr>
              <a:t>Obrigado.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91840"/>
            <a:ext cx="11094415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9A9A9A"/>
                </a:solidFill>
                <a:latin typeface="Segoe UI"/>
              </a:rPr>
              <a:t>Painel interativo (campanhas, vídeos, episódios 3D, proveniência de cada número):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F5F5F5"/>
                </a:solidFill>
                <a:latin typeface="Segoe UI"/>
              </a:rPr>
              <a:t>http://swarmroboticsgs.duckdns.org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E2E2E2"/>
                </a:solidFill>
                <a:latin typeface="Segoe UI"/>
              </a:rPr>
              <a:t>Página de resultados:  https://pombo2001.github.io/swarm-robotics-tese/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E2E2E2"/>
                </a:solidFill>
                <a:latin typeface="Segoe UI"/>
              </a:rPr>
              <a:t>Código, dados e verificadores:  https://github.com/Pombo2001/swarm-robotics-tese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Reserva · A tabela de avaliação, na íntegra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chegadas/ep · taxa de sucesso · execuções a 100 %  —  7 execuções por célula, 20 episódios determinísticos cada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00200"/>
            <a:ext cx="11094415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A9A9A"/>
                </a:solidFill>
                <a:latin typeface="Segoe UI"/>
              </a:rPr>
              <a:t>Significância (Mann-Whitney sobre as médias por execução, n = 7; δ de Cliff): GNN &gt; PPO e SAC nas Quatro Salas, Porta Cooperativa e Perceção (δ ≥ +0,71) · GNN &gt; SAC no Gargalo e na Porta com Alternativa (δ = +1,00), empate com o PPO (p = 0,21) · PPO e SAC &gt; GNN no Sandbox (δ = ±1,00) · Muro em U: nada significativo, nos três.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999232"/>
          <a:ext cx="11064240" cy="30723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651760"/>
                <a:gridCol w="2834640"/>
                <a:gridCol w="2788920"/>
                <a:gridCol w="2788920"/>
              </a:tblGrid>
              <a:tr h="384048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CENÁRIO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GNN EVOLUTIVO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PPO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SAC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Sandbox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38,3 · 86 % · 5/7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71,5 · 100 % · 7/7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69,2 · 100 % · 7/7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Muro em U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24,5 · 43 % · 3/7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39,6 · 71 % · 4/7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9,0 · 34 % · 2/7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Gargalo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121,4 · 100 % · 7/7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123,2 · 100 % · 7/7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41,4 · 72 % · 5/7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Quatro Salas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59,8 · 100 % · 7/7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33,6 · 100 % · 7/7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31,8 · 100 % · 7/7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Porta Cooperativa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69,8 · 100 % · 7/7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67,1 · 100 % · 7/7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62,1 · 100 % · 7/7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Perceção Cooperativa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19,0 · 91 % · 6/7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15,3 · 100 % · 7/7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16,1 · 100 % · 7/7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Porta com Alternativa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86,7 · 100 % · 7/7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85,3 · 100 % · 7/7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68,6 · 100 % · 7/7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cxnSp>
        <p:nvCxnSpPr>
          <p:cNvPr id="9" name="Connector 8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Slide de reserva · não faz parte da apresentação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A1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Reserva · Novidade e mega-treino, braço a braço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orçamento igualado a 195 min por execução, salvo indicação em contrário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00200"/>
            <a:ext cx="11094415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  </a:t>
            </a:r>
            <a:r>
              <a:rPr sz="1600" b="0">
                <a:solidFill>
                  <a:srgbClr val="E2E2E2"/>
                </a:solidFill>
                <a:latin typeface="Segoe UI"/>
              </a:rPr>
              <a:t>A n = 28: Fisher exato, adaptativo vs. objetivo, p &lt; 0,0001. GNN objetivo vs. PPO, p = 0,088 — indistinguíveis. Nenhuma das 28 execuções do SAC passa de 45,4 chegadas/ep: é uniformemente fraco, e não bimodal.</a:t>
            </a:r>
          </a:p>
          <a:p>
            <a:pPr algn="l">
              <a:spcAft>
                <a:spcPts val="6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  </a:t>
            </a:r>
            <a:r>
              <a:rPr sz="1600" b="0">
                <a:solidFill>
                  <a:srgbClr val="E2E2E2"/>
                </a:solidFill>
                <a:latin typeface="Segoe UI"/>
              </a:rPr>
              <a:t>Não se compra com orçamento: o objetivo puro com 390 min continua bimodal (4/7, 31,5 ± 35,0); o adaptativo com 390 min faz 88,7 ± 0,6 na Porta com Alternativa — o melhor resultado da tese.</a:t>
            </a:r>
          </a:p>
          <a:p>
            <a:pPr algn="l">
              <a:spcAft>
                <a:spcPts val="6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  </a:t>
            </a:r>
            <a:r>
              <a:rPr sz="1600" b="0">
                <a:solidFill>
                  <a:srgbClr val="E2E2E2"/>
                </a:solidFill>
                <a:latin typeface="Segoe UI"/>
              </a:rPr>
              <a:t>Ablação da temperagem, 4 variantes: 7/7 nos dois cenários — o mecanismo não vive da afinação.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3291840"/>
          <a:ext cx="11064240" cy="23042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00400"/>
                <a:gridCol w="2651760"/>
                <a:gridCol w="2697480"/>
                <a:gridCol w="2514600"/>
              </a:tblGrid>
              <a:tr h="384048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BRAÇO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MURO EM U (N = 7)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MURO EM U (N = 28)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PORTA C/ ALT. (N = 7)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GNN + novidade adaptativa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7/7 · 68,5 ± 13,1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28/28 · 67,4 ± 13,4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77,2 ± 16,7  (n.s.)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GNN + novidade w = 0,5 fixo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7/7 · 69,8 ± 5,9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63,0 ± 21,9  (δ = −1,00)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GNN objetivo puro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3/7 · 24,5 ± 32,6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15/28 · 32,5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86,7 ± 2,0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PPO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4/7 · 39,6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14/28 · 35,6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85,3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SAC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2/7 · 9,0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14/28 · 10,1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68,6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cxnSp>
        <p:nvCxnSpPr>
          <p:cNvPr id="9" name="Connector 8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Slide de reserva · não faz parte da apresentação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A2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Reserva · QI7, o mapa composto em números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103 × 62 m · raio 60 m (contra 15 dos cenários isolados) · 128,8 m do spawn ao ninho · 106 obstáculos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00200"/>
            <a:ext cx="1109441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A9A9A"/>
                </a:solidFill>
                <a:latin typeface="Segoe UI"/>
              </a:rPr>
              <a:t>As 4 condições de controlo excluem a escala da observação, os obstáculos e as features da porta como causa do zero. O que a composição degrada é a fiabilidade, não a magnitude.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414016"/>
          <a:ext cx="11064240" cy="23042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03120"/>
                <a:gridCol w="4114800"/>
                <a:gridCol w="4846320"/>
              </a:tblGrid>
              <a:tr h="384048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FASE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O QUE SE MEDIU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RESULTADO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Fase 1 — zero-shot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transferência sem retreino, com 4 condições de controlo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zero chegadas em 84/84 células · 1 680 episódios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Controlo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o mapa é sequer resolúvel?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navegador geodésico, sem aprendizagem: 53,0 chegadas/ep (82,0 nas Quatro Salas)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Fase 2 — treino nativo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21 execuções por algoritmo, 780 min cada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GNN 4/21 · 1,7 chegadas/ep  ·  PPO 0/21  ·  SAC 0/21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Regra de decisão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limiar fixado antes de haver dados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15 execuções convergentes em 21 — o resultado ficou em 4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Orçamento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o treino tinha acabado de convergir?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em 19 das 21 execuções a fitness ainda subia no último quinto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cxnSp>
        <p:nvCxnSpPr>
          <p:cNvPr id="9" name="Connector 8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Slide de reserva · não faz parte da apresentação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A3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Reserva · Custo, orçamento e o que está declarado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a assimetria de cómputo, medida — e a leitura que dela se tira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00200"/>
            <a:ext cx="11094415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  </a:t>
            </a:r>
            <a:r>
              <a:rPr sz="1600" b="0">
                <a:solidFill>
                  <a:srgbClr val="E2E2E2"/>
                </a:solidFill>
                <a:latin typeface="Segoe UI"/>
              </a:rPr>
              <a:t>A leitura é a inversa da que favoreceria o evolutivo: com ≈ 8× menos núcleos-hora, os métodos de gradiente igualam ou superam o GNN em 4 dos 7 cenários.</a:t>
            </a:r>
          </a:p>
          <a:p>
            <a:pPr algn="l">
              <a:spcAft>
                <a:spcPts val="6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  </a:t>
            </a:r>
            <a:r>
              <a:rPr sz="1600" b="0">
                <a:solidFill>
                  <a:srgbClr val="E2E2E2"/>
                </a:solidFill>
                <a:latin typeface="Segoe UI"/>
              </a:rPr>
              <a:t>Campanha principal: 147 treinos e 2 940 episódios de avaliação. Projeto inteiro: 28 sessões e 2 078 h de treino, das quais 341 h do mega-treino de um mês.</a:t>
            </a:r>
          </a:p>
          <a:p>
            <a:pPr algn="l">
              <a:spcAft>
                <a:spcPts val="6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  </a:t>
            </a:r>
            <a:r>
              <a:rPr sz="1600" b="0">
                <a:solidFill>
                  <a:srgbClr val="E2E2E2"/>
                </a:solidFill>
                <a:latin typeface="Segoe UI"/>
              </a:rPr>
              <a:t>Sub-treino declarado, não escondido: 7 das 21 células ainda subiam no fim do orçamento, e o SAC nos gargalos lê-se como limite inferior (temperatura fixa, α = 0,1, sem o ajuste dual — p. 44).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3584448"/>
          <a:ext cx="11064238" cy="19202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566160"/>
                <a:gridCol w="3749039"/>
                <a:gridCol w="3749039"/>
              </a:tblGrid>
              <a:tr h="384048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GNN EVOLUTIVO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PPO / SAC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Tempo por execução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195 min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48 min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Paralelismo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população de 30 genomas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16 ambientes vetorizados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Núcleos-hora por execução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97,6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12,8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Rácio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≈ 7,6× mais caro  (≈ 8×)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cxnSp>
        <p:nvCxnSpPr>
          <p:cNvPr id="9" name="Connector 8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Slide de reserva · não faz parte da apresentação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A4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Reserva · O Muro em U por dentro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ocupação média do enxame ao longo do episódio — modelos campeões, 6 episódios cada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536192"/>
            <a:ext cx="36118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2FB583"/>
                </a:solidFill>
                <a:latin typeface="Segoe UI"/>
              </a:rPr>
              <a:t>GNN evolutivo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98534"/>
            <a:ext cx="3611879" cy="3180969"/>
          </a:xfrm>
          <a:prstGeom prst="roundRect">
            <a:avLst>
              <a:gd name="adj" fmla="val 2491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heatmap_ocupacao_gnn_u_w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" y="2080830"/>
            <a:ext cx="3447287" cy="301637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288536" y="1536192"/>
            <a:ext cx="36118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EF7850"/>
                </a:solidFill>
                <a:latin typeface="Segoe UI"/>
              </a:rPr>
              <a:t>PPO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8536" y="1998534"/>
            <a:ext cx="3611879" cy="3180969"/>
          </a:xfrm>
          <a:prstGeom prst="roundRect">
            <a:avLst>
              <a:gd name="adj" fmla="val 2491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heatmap_ocupacao_ppo_u_wa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70832" y="2080830"/>
            <a:ext cx="3447287" cy="3016377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028432" y="1536192"/>
            <a:ext cx="36118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5F9FE4"/>
                </a:solidFill>
                <a:latin typeface="Segoe UI"/>
              </a:rPr>
              <a:t>SAC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28432" y="1998534"/>
            <a:ext cx="3611879" cy="3180969"/>
          </a:xfrm>
          <a:prstGeom prst="roundRect">
            <a:avLst>
              <a:gd name="adj" fmla="val 2491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heatmap_ocupacao_sac_u_wa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10728" y="2080830"/>
            <a:ext cx="3447287" cy="3016377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48640" y="5760720"/>
            <a:ext cx="1109441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9A9A9A"/>
                </a:solidFill>
                <a:latin typeface="Segoe UI"/>
              </a:rPr>
              <a:t>O corredor que contorna o muro é o que separa quem resolve de quem não resolve: o GNN e o PPO desenham-no (476 e 419 chegadas em 6 episódios); o SAC nunca o encontra e faz zero.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Slide de reserva · não faz parte da apresentação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A5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Reserva · Como sei que os números são os dos dados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a verificação, medida e ensaiada — não alegada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00200"/>
            <a:ext cx="11094415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  </a:t>
            </a:r>
            <a:r>
              <a:rPr sz="1600" b="0">
                <a:solidFill>
                  <a:srgbClr val="E2E2E2"/>
                </a:solidFill>
                <a:latin typeface="Segoe UI"/>
              </a:rPr>
              <a:t>27 verificadores automáticos; 19 correm no hook de pre-commit e recusam o commit se um número da tese deixar de bater com o CSV que o produziu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  </a:t>
            </a:r>
            <a:r>
              <a:rPr sz="1600" b="0">
                <a:solidFill>
                  <a:srgbClr val="E2E2E2"/>
                </a:solidFill>
                <a:latin typeface="Segoe UI"/>
              </a:rPr>
              <a:t>O principal confere ~965 valores do main.tex; o do mapa composto, 72; o da configuração, 45 — física, recompensa e hiperparâmetros dos três algoritmos, lidos do foraging.yaml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  </a:t>
            </a:r>
            <a:r>
              <a:rPr sz="1600" b="0">
                <a:solidFill>
                  <a:srgbClr val="E2E2E2"/>
                </a:solidFill>
                <a:latin typeface="Segoe UI"/>
              </a:rPr>
              <a:t>Ensaio de mutação: a tese é estragada de propósito, 92 mutações, uma de cada vez, e o ensaio exige que todas sejam acusadas. Um verificador que nunca falhou não está provado — está por testar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  </a:t>
            </a:r>
            <a:r>
              <a:rPr sz="1600" b="0">
                <a:solidFill>
                  <a:srgbClr val="E2E2E2"/>
                </a:solidFill>
                <a:latin typeface="Segoe UI"/>
              </a:rPr>
              <a:t>Cobertura medida, não alegada: 1 043 dos 2 286 tokens numéricos do corpo do main.tex são lidos por algum verificador (46 %), e os 193 automatizáveis que faltam estão listados, um a um, em docs/COBERTURA_VERIFICADOR.md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  </a:t>
            </a:r>
            <a:r>
              <a:rPr sz="1600" b="0">
                <a:solidFill>
                  <a:srgbClr val="E2E2E2"/>
                </a:solidFill>
                <a:latin typeface="Segoe UI"/>
              </a:rPr>
              <a:t>Três pré-registos: hipótese, testes e regra de decisão escritos antes de haver dados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  </a:t>
            </a:r>
            <a:r>
              <a:rPr sz="1600" b="0">
                <a:solidFill>
                  <a:srgbClr val="E2E2E2"/>
                </a:solidFill>
                <a:latin typeface="Segoe UI"/>
              </a:rPr>
              <a:t>docs/REPRODUZIR.md refaz o percurso comando a comando — e é ele próprio ensaiado contra o disco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Slide de reserva · não faz parte da apresentação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A6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