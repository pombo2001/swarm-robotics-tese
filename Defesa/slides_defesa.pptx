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0:20 · 20 s]</a:t>
            </a:r>
          </a:p>
          <a:p/>
          <a:p>
            <a:r>
              <a:t>Bom dia. Vou apresentar a dissertação «Aprendizagem por Reforço Multiagente e Neuroevolução no Controlo de Enxames de Robôs: Desempenho,</a:t>
            </a:r>
          </a:p>
          <a:p>
            <a:r>
              <a:t>Escalabilidade e Robustez»: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(235 palavras) - - -</a:t>
            </a:r>
          </a:p>
          <a:p/>
          <a:p>
            <a:r>
              <a:t>Esta dissertação compara a aprendizagem por reforço multiagente e a otimização</a:t>
            </a:r>
          </a:p>
          <a:p>
            <a:r>
              <a:t>bio-inspirada no controlo descentralizado de enxames de robôs. Num simulador</a:t>
            </a:r>
          </a:p>
          <a:p>
            <a:r>
              <a:t>próprio, vinte robôs têm de chegar em conjunto a um ninho. Um controlador</a:t>
            </a:r>
          </a:p>
          <a:p>
            <a:r>
              <a:t>evolutivo, uma rede neuronal sobre grafos com atenção, foi comparado com dois</a:t>
            </a:r>
          </a:p>
          <a:p>
            <a:r>
              <a:t>algoritmos de aprendizagem por reforço por gradiente (Proximal Policy</a:t>
            </a:r>
          </a:p>
          <a:p>
            <a:r>
              <a:t>Optimization e Soft Actor-Critic) em sete cenários de dificuldade crescente, com</a:t>
            </a:r>
          </a:p>
          <a:p>
            <a:r>
              <a:t>7 treinos independentes por algoritmo e cenário.</a:t>
            </a:r>
          </a:p>
          <a:p/>
          <a:p>
            <a:r>
              <a:t>Com uma função de aptidão que premeia também a aproximação ao ninho, o</a:t>
            </a:r>
          </a:p>
          <a:p>
            <a:r>
              <a:t>controlador evolutivo supera os métodos de gradiente em três cenários, iguala o</a:t>
            </a:r>
          </a:p>
          <a:p>
            <a:r>
              <a:t>melhor noutros dois e é o único que funciona sem novo treino com enxames de 10 a</a:t>
            </a:r>
          </a:p>
          <a:p>
            <a:r>
              <a:t>100 robôs; os métodos de gradiente são mais fiáveis em espaço aberto e gastam</a:t>
            </a:r>
          </a:p>
          <a:p>
            <a:r>
              <a:t>menos cálculo. O cenário que obriga a afastar-se do ninho para o alcançar só foi</a:t>
            </a:r>
          </a:p>
          <a:p>
            <a:r>
              <a:t>resolvido de forma consistente com pressão por comportamentos novos, atenuada</a:t>
            </a:r>
          </a:p>
          <a:p>
            <a:r>
              <a:t>após a descoberta: numa replicação com 28 treinos por algoritmo, resolveu-o em</a:t>
            </a:r>
          </a:p>
          <a:p>
            <a:r>
              <a:t>28, contra 15 sem essa pressão e 14 de cada método de gradiente. Um oitavo</a:t>
            </a:r>
          </a:p>
          <a:p>
            <a:r>
              <a:t>cenário, que junta as dificuldades dos sete num labirinto de 103 x 62 m, é</a:t>
            </a:r>
          </a:p>
          <a:p>
            <a:r>
              <a:t>resolvido em apenas 4 de 21 treinos.</a:t>
            </a:r>
          </a:p>
          <a:p/>
          <a:p>
            <a:r>
              <a:t>A hipótese de que a aprendizagem adaptativa supera a otimização estática</a:t>
            </a:r>
          </a:p>
          <a:p>
            <a:r>
              <a:t>confirma-se só em parte: escalar depende da representação da política, não do</a:t>
            </a:r>
          </a:p>
          <a:p>
            <a:r>
              <a:t>otimizador; nos cenários enganadores, depende do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10, a novidade no 11, a escala no 12, o mapa</a:t>
            </a:r>
          </a:p>
          <a:p>
            <a:r>
              <a:t>composto no 14, e a frase final é o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→ 0:40 · 20 s]</a:t>
            </a:r>
          </a:p>
          <a:p/>
          <a:p>
            <a:r>
              <a:t>Em cinco partes. Primeiro o contexto: o problema e as sete questões. Depois o</a:t>
            </a:r>
          </a:p>
          <a:p>
            <a:r>
              <a:t>método — simulador, controladores e protocolo. O grosso é o dos resultados, que</a:t>
            </a:r>
          </a:p>
          <a:p>
            <a:r>
              <a:t>respondo pela ordem em que se desbloqueiam, e não pela ordem de numeração. Fecho</a:t>
            </a:r>
          </a:p>
          <a:p>
            <a:r>
              <a:t>com as limitações, os contributos e a conclusão, e um minuto de demo ao vivo.</a:t>
            </a:r>
          </a:p>
          <a:p/>
          <a:p>
            <a:r>
              <a:t>(Os números à direita são os rótulos do rodapé: se o júri pedir «volte à QI5»,</a:t>
            </a:r>
          </a:p>
          <a:p>
            <a:r>
              <a:t>é o 09.)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→ 1:25 · 45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Robótica de enxame — muitos robôs simples, sem líder; o comportamento coletivo nasce das interações locais</a:t>
            </a:r>
          </a:p>
          <a:p>
            <a:r>
              <a:t>• Controlo descentralizado — cada robô decide só com o que ele próprio observa — não há computador central</a:t>
            </a:r>
          </a:p>
          <a:p>
            <a:r>
              <a:t>• MARL — aprendizagem por reforço multiagente: vários agentes aprendem por tentativa e erro a maximizar uma recompensa</a:t>
            </a:r>
          </a:p>
          <a:p>
            <a:r>
              <a:t>• Otimização bio-inspirada — aqui, neuroevolução: evoluem-se os pesos da rede por seleção e mutação, sem gradientes</a:t>
            </a:r>
          </a:p>
          <a:p>
            <a:r>
              <a:t>• Não-estacionaridade — para cada agente o ambiente muda enquanto aprende, porque os outros agentes também estão a aprender</a:t>
            </a:r>
          </a:p>
          <a:p>
            <a:r>
              <a:t>• Recompensa esparsa — o sinal útil chega raramente (só ao chegar ao ninho): difícil saber que ação o causou</a:t>
            </a:r>
          </a:p>
          <a:p>
            <a:r>
              <a:t>• Benchmark — comparação sistemática, com o mesmo simulador, cenários e protocolo para todos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 → 2:05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aplicar a política treinada com N = 20 a outro N sem qualquer retreino</a:t>
            </a:r>
          </a:p>
          <a:p>
            <a:r>
              <a:t>• Fitness — a nota que a evolução dá a cada genoma; é o que decide quem se reproduz</a:t>
            </a:r>
          </a:p>
          <a:p>
            <a:r>
              <a:t>• Shaping — termos extra na recompensa/fitness que guiam a aprendizagem antes de haver sucesso</a:t>
            </a:r>
          </a:p>
          <a:p>
            <a:r>
              <a:t>• Homing — o termo que premeia terminar perto do ninho</a:t>
            </a:r>
          </a:p>
          <a:p>
            <a:r>
              <a:t>• Deceção (deceptive) — cenário em que seguir o gradiente da recompensa afasta da solução</a:t>
            </a:r>
          </a:p>
          <a:p>
            <a:r>
              <a:t>• Procura por novidade — premiar comportamentos diferentes dos já vistos, e não só o objetivo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→ 3:05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chegar ao ninho em conjunto: não há objetos para apanhar, e</a:t>
            </a:r>
          </a:p>
          <a:p>
            <a:r>
              <a:t>conta uma chegada quando os agentes exigidos estão no ninho ao mesmo tempo.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Ninho — a zona-alvo; conta uma chegada quando os agentes exigidos estão lá ao mesmo tempo</a:t>
            </a:r>
          </a:p>
          <a:p>
            <a:r>
              <a:t>• LiDAR — sensor de distância por raios: diz a que distância está a parede em cada direção (alcance 8 m)</a:t>
            </a:r>
          </a:p>
          <a:p>
            <a:r>
              <a:t>• Observação parcial — as paredes só pelo LiDAR (8 m), nunca o mapa inteiro; os outros robôs, todos, sem limite de alcance</a:t>
            </a:r>
          </a:p>
          <a:p>
            <a:r>
              <a:t>• Muro em U — beco virado para o ninho: ir a direito prende o enxame; é preciso afastar-se para contornar</a:t>
            </a:r>
          </a:p>
          <a:p>
            <a:r>
              <a:t>• Porta Cooperativa — a porta só abre com três robôs em simultâneo junto dela</a:t>
            </a:r>
          </a:p>
          <a:p>
            <a:r>
              <a:t>• Perceção Cooperativa — não tem ninho: conta uma chegada quando três agentes cercam um alvo móvel</a:t>
            </a:r>
          </a:p>
          <a:p>
            <a:r>
              <a:t>• Porta com Alternativa — a porta parece o caminho mais curto mas está fechada; há um corredor alternativo</a:t>
            </a:r>
          </a:p>
          <a:p>
            <a:r>
              <a:t>• Wall-sliding — contra um muro o robô não para — desliza ao longo da parede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→ 3:55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PPO — Proximal Policy Optimization: gradiente de política on-policy, com passos cortados para não mudar demais</a:t>
            </a:r>
          </a:p>
          <a:p>
            <a:r>
              <a:t>• SAC — Soft Actor-Critic: off-policy, reutiliza experiência guardada e premeia a entropia (temperatura α)</a:t>
            </a:r>
          </a:p>
          <a:p>
            <a:r>
              <a:t>• On-policy / off-policy — treina só com dados da política atual / reaproveita dados antigos (replay buffer)</a:t>
            </a:r>
          </a:p>
          <a:p>
            <a:r>
              <a:t>• RS2C — Robust and Scalable Swarm Control: o framework da tese para PPO/SAC — execução descentralizada com partilha de parâmetros</a:t>
            </a:r>
          </a:p>
          <a:p>
            <a:r>
              <a:t>• Parameter sharing — os 20 agentes usam a mesma rede (os mesmos pesos)</a:t>
            </a:r>
          </a:p>
          <a:p>
            <a:r>
              <a:t>• MLP — rede neuronal densa clássica; entrada de tamanho fixo (aqui um vetor de 111 números, ℝ¹¹¹)</a:t>
            </a:r>
          </a:p>
          <a:p>
            <a:r>
              <a:t>• GNN com atenção — rede sobre o grafo dos vizinhos que pesa cada vizinho pela relevância; funciona com qualquer nº de vizinhos</a:t>
            </a:r>
          </a:p>
          <a:p>
            <a:r>
              <a:t>• Invariante a N — a mesma rede serve para 10, 20 ou 100 agentes sem mudar nada</a:t>
            </a:r>
          </a:p>
          <a:p>
            <a:r>
              <a:t>• Shaping geodésico — recompensa por aproximar-se do ninho, medida pelo caminho que contorna paredes</a:t>
            </a:r>
          </a:p>
          <a:p>
            <a:r>
              <a:t>• Genoma / população — genoma = um conjunto de pesos da rede; população = os 30 genomas avaliados por geração</a:t>
            </a:r>
          </a:p>
          <a:p>
            <a:r>
              <a:t>• Ambientes vetorizados — 16 cópias do simulador a correr em paralelo para recolher experiência mais depressa</a:t>
            </a:r>
          </a:p>
          <a:p>
            <a:r>
              <a:t>• Núcleos-hora — núcleos × horas: a moeda que torna comparável o custo dos dois paradigmas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 → 4:40 · 45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Execução (run) — um treino completo, com a sua semente; é a unidade estatística (n = 7 por célula)</a:t>
            </a:r>
          </a:p>
          <a:p>
            <a:r>
              <a:t>• Episódio — uma tentativa do enxame, do início ao fim (2000 passos)</a:t>
            </a:r>
          </a:p>
          <a:p>
            <a:r>
              <a:t>• Avaliação determinística — o modelo já treinado joga sem aleatoriedade na ação, com sementes fixas</a:t>
            </a:r>
          </a:p>
          <a:p>
            <a:r>
              <a:t>• Emparelhados / sementes comuns — os três algoritmos enfrentam exatamente os mesmos 20 episódios</a:t>
            </a:r>
          </a:p>
          <a:p>
            <a:r>
              <a:t>• Mann-Whitney U — teste não-paramétrico: diz se um grupo tende a ter valores maiores que o outro, sem assumir normalidade</a:t>
            </a:r>
          </a:p>
          <a:p>
            <a:r>
              <a:t>• δ de Cliff — tamanho de efeito em [−1, 1]: P(A &gt; B) − P(B &gt; A); |δ| ≥ 0,474 é grande, ±1 é separação total</a:t>
            </a:r>
          </a:p>
          <a:p>
            <a:r>
              <a:t>• Taxa de sucesso (P_task) — fração de episódios com pelo menos uma chegada</a:t>
            </a:r>
          </a:p>
          <a:p>
            <a:r>
              <a:t>• Pré-registo — hipótese, testes e regra de decisão escritos ANTES de haver dados</a:t>
            </a:r>
          </a:p>
          <a:p>
            <a:r>
              <a:t>• Hook de pre-commit — script que corre sozinho antes de cada commit e o recusa se um número deixar de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→ 5:45 · 65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Célula — uma combinação algoritmo × cenário (3 × 7 = 21 células)</a:t>
            </a:r>
          </a:p>
          <a:p>
            <a:r>
              <a:t>• δ ≥ +0,71 — em ≥ 85 % dos pares de execuções o GNN supera o outro — efeito grande</a:t>
            </a:r>
          </a:p>
          <a:p>
            <a:r>
              <a:t>• Bimodal — as execuções dividem-se em dois grupos, resolve ou fica a zero, sem nada no meio</a:t>
            </a:r>
          </a:p>
          <a:p>
            <a:r>
              <a:t>• 3/7, 4/7, 2/7 — quantas das 7 execuções chegam a 100 % de sucesso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chegadas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Boxplot — caixa com mediana e quartis; com 7 pontos, os quartis dependem de 1 ou 2 execuções</a:t>
            </a:r>
          </a:p>
          <a:p>
            <a:r>
              <a:t>• Dot plot — um ponto por execução: mostra a forma real da distribuição</a:t>
            </a:r>
          </a:p>
          <a:p>
            <a:r>
              <a:t>• Gradiente geodésico — a descida da distância-ao-ninho medida contornando paredes; em campo aberto não canaliza nada</a:t>
            </a:r>
          </a:p>
          <a:p>
            <a:r>
              <a:t>• Degenerar — a execução converge para um comportamento inútil (&lt; 1 chegada/ep)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Na última</a:t>
            </a:r>
          </a:p>
          <a:p>
            <a:r>
              <a:t>campanha com a fitness antiga, só três de doze execuções destes cenários chegavam</a:t>
            </a:r>
          </a:p>
          <a:p>
            <a:r>
              <a:t>ao ninho; com o homing, as vinte e oito convergem. É uma comparação entre</a:t>
            </a:r>
          </a:p>
          <a:p>
            <a:r>
              <a:t>campanhas, não uma ablação — mudou também o decaimento do sigma. Mas é condição necessária, não</a:t>
            </a:r>
          </a:p>
          <a:p>
            <a:r>
              <a:t>suficiente: o Muro em U continuou bimodal. Faltava a descoberta.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Fitness exploitation — a população maximiza o termo de shaping sem cumprir a tarefa — o reward hacking da evolução</a:t>
            </a:r>
          </a:p>
          <a:p>
            <a:r>
              <a:t>• Farmável — um termo que se acumula só por andar às voltas, sem nunca chegar ao ninho</a:t>
            </a:r>
          </a:p>
          <a:p>
            <a:r>
              <a:t>• Planalto / pressão seletiva — todos os genomas têm fitness parecida, e a seleção deixa de distinguir bons de maus</a:t>
            </a:r>
          </a:p>
          <a:p>
            <a:r>
              <a:t>• Homing terminal — clip((Φ₀ − Φ_T)/Φ₀, 0, 1): quanto se aproximou do ninho entre o INÍCIO e o FIM — vaguear não o aumenta</a:t>
            </a:r>
          </a:p>
          <a:p>
            <a:r>
              <a:t>• Potencial geodésico Φ — distância ao ninho pelo caminho mais curto que contorna paredes (Dijkstra numa grelha de 0,4 m)</a:t>
            </a:r>
          </a:p>
          <a:p>
            <a:r>
              <a:t>• Euclidiano — distância em linha reta: atravessa as paredes, por isso puxa o enxame para dentro do beco</a:t>
            </a:r>
          </a:p>
          <a:p>
            <a:r>
              <a:t>• Atribuição de crédito — saber que comportamento mereceu a nota; o homing resolve-o, não resolve descobrir o desvio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Novelty search — parte da seleção passa a premiar comportamento diferente; o campeão reportado é sempre o melhor no objetivo</a:t>
            </a:r>
          </a:p>
          <a:p>
            <a:r>
              <a:t>• w — o peso da novidade na seleção (w = 0,5: metade objetivo, metade novidade)</a:t>
            </a:r>
          </a:p>
          <a:p>
            <a:r>
              <a:t>• Dosagem adaptativa — w decai depois de a descoberta se sustentar: paga-se exploração só enquanto compra descoberta</a:t>
            </a:r>
          </a:p>
          <a:p>
            <a:r>
              <a:t>• Orçamento igualado — todos os braços com o mesmo tempo de treino (195 min), para a diferença não ser tempo</a:t>
            </a:r>
          </a:p>
          <a:p>
            <a:r>
              <a:t>• Braço — uma das condições comparadas (ex.: GNN adaptativo, GNN objetivo, PPO, SAC)</a:t>
            </a:r>
          </a:p>
          <a:p>
            <a:r>
              <a:t>• Fisher exato — teste para contagens (28/28 vs 15/28): quão improvável seria a diferença por acaso</a:t>
            </a:r>
          </a:p>
          <a:p>
            <a:r>
              <a:t>• p = 0,088 — acima de 0,05: não há evidência de diferença — «indistinguíveis»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treinada com N = 20, testada com 10, 50 e 100 sem retreino</a:t>
            </a:r>
          </a:p>
          <a:p>
            <a:r>
              <a:t>• Chegadas por agente — chegadas por episódio a dividir por N — permite comparar enxames de tamanhos diferentes</a:t>
            </a:r>
          </a:p>
          <a:p>
            <a:r>
              <a:t>• Retenção per capita — chegadas por agente a N = 100 ÷ as de N = 20; mede diluição do recurso, não perda de coordenação</a:t>
            </a:r>
          </a:p>
          <a:p>
            <a:r>
              <a:t>• ℝ¹¹¹ — a MLP recebe um vetor de exatamente 111 números; com outro N o vetor muda de tamanho e a rede não o aceita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chegadas,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Agente inerte — 10 % dos robôs param de repente a meio do episódio e ficam como obstáculos</a:t>
            </a:r>
          </a:p>
          <a:p>
            <a:r>
              <a:t>• Retenção de chegadas — chegadas com falhas ÷ chegadas sem falhas (92–106 % nos três)</a:t>
            </a:r>
          </a:p>
          <a:p>
            <a:r>
              <a:t>• Parameter sharing — todos têm a mesma política: qualquer robô substitui o que falhou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chegada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chegadas.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Os três mapas mostram um episódio de cada: o evolutivo atravessa</a:t>
            </a:r>
          </a:p>
          <a:p>
            <a:r>
              <a:t>o labirinto até ao ninho; o PPO e o SAC ficam pelo caminho. A resposta é</a:t>
            </a:r>
          </a:p>
          <a:p>
            <a:r>
              <a:t>negativa e está reportada como negativa. O que a composição degrada é a</a:t>
            </a:r>
          </a:p>
          <a:p>
            <a:r>
              <a:t>fiabilidade: é a bimodalidade do Muro em U em ponto grande.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composto — labirinto de 103 × 62 m com quatro dificuldades em série: gargalo+U, quatro salas, porta cooperativa, ninho</a:t>
            </a:r>
          </a:p>
          <a:p>
            <a:r>
              <a:t>• Transferência sem retreino — levar os modelos treinados nos cenários pequenos para o mapa grande tal como estão</a:t>
            </a:r>
          </a:p>
          <a:p>
            <a:r>
              <a:t>• Condições de controlo — variações que excluem causas triviais do zero (escala da observação, obstáculos, features da porta)</a:t>
            </a:r>
          </a:p>
          <a:p>
            <a:r>
              <a:t>• Navegador geodésico — controlador escrito à mão que segue o caminho mais curto; não aprende — prova que o mapa é resolúvel</a:t>
            </a:r>
          </a:p>
          <a:p>
            <a:r>
              <a:t>• Treino nativo — treinar de raiz no próprio mapa composto (21 execuções, 780 min cada)</a:t>
            </a:r>
          </a:p>
          <a:p>
            <a:r>
              <a:t>• Limiar pré-registado — 15 execuções convergentes em 21, fixado antes dos dados; ficou em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de escolha — em vez de um vencedor: que método usar consoante a missão</a:t>
            </a:r>
          </a:p>
          <a:p>
            <a:r>
              <a:t>• Dimensão fixa / variável — sabe-se ou não quantos robôs vai ter o enxame na missão</a:t>
            </a:r>
          </a:p>
          <a:p>
            <a:r>
              <a:t>• Núcleos-hora — 12,8 (PPO/SAC) contra 97,6 (evolutivo) por execução — ≈ 8×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Arquitetura assimétrica — o evolutivo usa GNN com atenção e o PPO/SAC uma MLP: não se separa otimizador de representação</a:t>
            </a:r>
          </a:p>
          <a:p>
            <a:r>
              <a:t>• Limite inferior — o SAC podia fazer melhor com mais treino/afinação; o valor medido é um mínimo</a:t>
            </a:r>
          </a:p>
          <a:p>
            <a:r>
              <a:t>• Temperatura α — no SAC, o peso da entropia (exploração); aqui fixa em 0,1, sem o ajuste automático («dual»)</a:t>
            </a:r>
          </a:p>
          <a:p>
            <a:r>
              <a:t>• Deployment gap — o fosso entre simulação e robô físico — não validado nesta tese</a:t>
            </a:r>
          </a:p>
          <a:p>
            <a:r>
              <a:t>• Costuras da física — dois sítios onde um robô consegue atravessar a parede (no teto e nas junções em T)</a:t>
            </a:r>
          </a:p>
          <a:p>
            <a:r>
              <a:t>• Célula contaminada — resultado afetado pelas costuras: declarado, e não usado como evidência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Contributo metodológico — sobre como fazer (o desenho da fitness), não sobre qual algoritmo é melhor</a:t>
            </a:r>
          </a:p>
          <a:p>
            <a:r>
              <a:t>• Verificador — script que recalcula um número da tese a partir dos CSV e falha se não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fiabilidade, sobretudo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chegadas.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10 no rodapé.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Proveniência — no painel, de onde vem cada número: o ficheiro CSV e a linha que o produziu</a:t>
            </a:r>
          </a:p>
          <a:p>
            <a:r>
              <a:t>• Episódio 3D — a vista do painel que desenha os enxames em 3D, a correr ao mesmo tempo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chegadas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chegadas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num modelo da campanha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seis e quatrocentas e dezanove chegadas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 — como em cinco das sete execuções do SAC.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F5F5"/>
                </a:solidFill>
                <a:latin typeface="Segoe UI Semibold"/>
              </a:rPr>
              <a:t>Aprendizagem por Reforço Multiagente e Neuroevolução no Controlo de Enxames de Robôs: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Segoe UI"/>
              </a:rPr>
              <a:t>Desempenho, Escalabilidade e Robustez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cinco partes, quinze minutos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1907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problema, a lacuna na literatura e as sete questões de investigação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1810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02–03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44144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4203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146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Método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803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simulador e os oito cenários, os três controladores, o protocolo experimental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633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04–06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26440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36499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Resultados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033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sete questões, pela ordem em que se desbloqueiam: QI1, 5, 6, 2, 3, 7 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4255" y="345643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07–14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08736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418795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1605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Balanço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5262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limitações, os contributos e a conclusão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4255" y="42793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15–17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91032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01091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9834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Demo ao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3492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Muro em U no painel, com a proveniência de cada número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51023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 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navegação cooperativa até ao ninho em 3D, 20 agentes, obstáculos só pelo LiDAR (8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chegar ao ninho em conjunto, sem objetos para apanhar;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Observação: LiDAR local (8 m), bússola ao ninho e a posição de todos os outros robôs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chegadas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2 940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chegadas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27 verificadores automáticos, 19 no hook de pre-commit: cada número da tese é recalculado a partir dos CSV, e o commit é recusado se algum deixar de bater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5849" y="1600200"/>
            <a:ext cx="3353771" cy="219456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145" y="1682496"/>
            <a:ext cx="3189179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1858" y="3977640"/>
            <a:ext cx="3721753" cy="2194560"/>
          </a:xfrm>
          <a:prstGeom prst="roundRect">
            <a:avLst>
              <a:gd name="adj" fmla="val 2418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154" y="4059936"/>
            <a:ext cx="3557161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577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Fitness inicial: chegadas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FB583"/>
                </a:solidFill>
                <a:latin typeface="Segoe UI"/>
              </a:rPr>
              <a:t>Resultado: de 3 em 12 execuções que chegavam ao ninho para 28 em 28 a 100 % de sucesso.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2415" y="1600200"/>
            <a:ext cx="5120640" cy="4434840"/>
          </a:xfrm>
          <a:prstGeom prst="roundRect">
            <a:avLst>
              <a:gd name="adj" fmla="val 4000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2455" y="18288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EXECUÇÕES DO GNN QUE CHEGAM AO NINHO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273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fitness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homing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terminal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42455" y="2788920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42455" y="28986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Gargalo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273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8575" y="28803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2455" y="3355848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42455" y="34655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Quatro Salas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273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0/3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3447288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42455" y="3922776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42455" y="403250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Cooperativa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273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8575" y="4014216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145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42455" y="4489704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42455" y="459943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com Alternativa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273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4581144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42455" y="5056632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42455" y="5239512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5"/>
                </a:solidFill>
                <a:latin typeface="Segoe UI"/>
              </a:rPr>
              <a:t>28 execuções, 7 por cenário: todas a 100 %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antes: treino de 28 jun, sem avaliação determinística · Muro em U com homing: 3/7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(chegadas por agente na tabela)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chegadas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FB583"/>
                </a:solidFill>
                <a:latin typeface="Segoe UI"/>
              </a:rPr>
              <a:t>GNN evolutivo · 8 chegadas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sto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65676"/>
            <a:ext cx="3442106" cy="2120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2498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F7850"/>
                </a:solidFill>
                <a:latin typeface="Segoe UI"/>
              </a:rPr>
              <a:t>PPO · 0 chegadas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2498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stos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4794" y="1865676"/>
            <a:ext cx="3442106" cy="2120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36356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5F9FE4"/>
                </a:solidFill>
                <a:latin typeface="Segoe UI"/>
              </a:rPr>
              <a:t>SAC · 0 chegadas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785484"/>
            <a:ext cx="3606698" cy="2281192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astos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652" y="1867780"/>
            <a:ext cx="3442106" cy="2116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087368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Segoe UI"/>
              </a:rPr>
              <a:t>um episódio de cada, mesmas sementes · o ninho à direita · pontos brancos: partida; cheios: onde acabaram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Sem retreino: zero chegadas em 84 de 84 células (1 680 episódios) — e o mapa é resolúvel: um navegador geodésico sem aprendizagem faz 53,0 chegadas/ep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dados; em 19 das 21 a fitness ainda subia no fim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negativa: a composição degrada sobretudo a fiabilidade — a bimodalidade do Muro em U em ponto grande.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2: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Dimensão vertical usada mas não observada; duas costuras na física das paredes — 11 de 343 modelos arquivados atravessam-nas, todos do evolutivo; na campanha final são 3 de 70 (Quatro Salas), e não as tornam melhores (55,7 vs 60,3 chegadas/ep). Onde a costura pesa é numa célula da campanha adaptativa — Quatro Salas —, declarada como contaminada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com o homing terminal no potencial geodésico, os quatro cenários de gargalo passam de 3/12 execuções com chegadas a 28/28 a 100 %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27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sobretudo a fiabilidade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chegadas/ep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chegadas/ep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chegadas/ep: é uniformemente fraco, e não bimodal.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chegadas em 84/84 células · 1 680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chegadas/ep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chegadas/ep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a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2 940 episódios de avaliação. Projeto inteiro: 28 sessões e 2 078 h de treino, das quais 341 h do mega-treino de um mês.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um modelo da campanha por algoritmo,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(476 e 419 chegadas em 6 episódios); este SAC, como 5 das suas 7 execuções,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27 verificadores automáticos; 19 correm no hook de pre-commit e recusam o commit se um número da tese deixar de bater com o CSV que o produziu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1 043 dos 2 286 tokens numéricos do corpo do main.tex são lidos por algum verificador (46 %), e os 193 automatizáveis que faltam estão listados, um a um, em docs/COBERTURA_VERIFICADOR.md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