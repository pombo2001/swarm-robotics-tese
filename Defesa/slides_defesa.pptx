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Bom dia. Vou apresentar a dissertação «Aprendizagem por Reforço para Controlo de</a:t>
            </a:r>
          </a:p>
          <a:p>
            <a:r>
              <a:t>Enxames»: uma comparação, no mesmo simulador e com o mesmo protocolo, entre dois</a:t>
            </a:r>
          </a:p>
          <a:p>
            <a:r>
              <a:t>paradigmas de controlo descentralizado — aprendizagem por reforço multiagente por</a:t>
            </a:r>
          </a:p>
          <a:p>
            <a:r>
              <a:t>gradiente (PPO e SAC) e neuroevolução de uma rede de grafos com atenção — em oito</a:t>
            </a:r>
          </a:p>
          <a:p>
            <a:r>
              <a:t>cenários. Quinze minutos: o problema, o método, sete perguntas e as respostas.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campo organiza-se em duas escolas. A bio-inspirada trata o controlador como um</a:t>
            </a:r>
          </a:p>
          <a:p>
            <a:r>
              <a:t>problema de otimização offline — robusto, mas estático. O MARL aprende online,</a:t>
            </a:r>
          </a:p>
          <a:p>
            <a:r>
              <a:t>mas paga a não-estacionaridade e as recompensas esparsas. A literatura diz que</a:t>
            </a:r>
          </a:p>
          <a:p>
            <a:r>
              <a:t>faltam comparações diretas, rigorosas, em cenários difíceis. Esta tese é essa</a:t>
            </a:r>
          </a:p>
          <a:p>
            <a:r>
              <a:t>comparação. A hipótese de partida era que a adaptabilidade do MARL ganharia em</a:t>
            </a:r>
          </a:p>
          <a:p>
            <a:r>
              <a:t>stress; a resposta vai ser «só em parte» — e a parte que se confirma não está</a:t>
            </a:r>
          </a:p>
          <a:p>
            <a:r>
              <a:t>onde a hipótese a punha.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Sete questões em dois níveis. As quatro primeiras comparam paradigmas:</a:t>
            </a:r>
          </a:p>
          <a:p>
            <a:r>
              <a:t>desempenho, escalabilidade, robustez e critério de escolha. As três seguintes</a:t>
            </a:r>
          </a:p>
          <a:p>
            <a:r>
              <a:t>descem aos mecanismos — o sinal de treino, a pressão de exploração e a</a:t>
            </a:r>
          </a:p>
          <a:p>
            <a:r>
              <a:t>topologia — e só se tornam formuláveis depois das primeiras. Vou respondê-las</a:t>
            </a:r>
          </a:p>
          <a:p>
            <a:r>
              <a:t>todas, pela ordem em que os resultados as desbloqueiam.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simulador foi construído de raiz em Python: tridimensional, com física de</a:t>
            </a:r>
          </a:p>
          <a:p>
            <a:r>
              <a:t>colisões e deslizamento nos muros, LiDAR horizontal de 8 metros e observação</a:t>
            </a:r>
          </a:p>
          <a:p>
            <a:r>
              <a:t>egocêntrica. A tarefa é o forrageamento cooperativo. Sete cenários isolam uma</a:t>
            </a:r>
          </a:p>
          <a:p>
            <a:r>
              <a:t>dificuldade cada — um beco enganador, um gargalo, quatro salas, uma porta que só</a:t>
            </a:r>
          </a:p>
          <a:p>
            <a:r>
              <a:t>abre com três robôs — e o oitavo compõe quatro delas num labirinto quatro vezes</a:t>
            </a:r>
          </a:p>
          <a:p>
            <a:r>
              <a:t>maior. Tudo é reproduzível: sementes fixas, avaliação determinística.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dois lados partilham o simulador, a observação e o protocolo de avaliação.</a:t>
            </a:r>
          </a:p>
          <a:p>
            <a:r>
              <a:t>O PPO e o SAC usam as implementações de referência da Stable-Baselines3 — uma</a:t>
            </a:r>
          </a:p>
          <a:p>
            <a:r>
              <a:t>MLP de entrada fixa. O controlador evolutivo otimiza os pesos de uma rede de</a:t>
            </a:r>
          </a:p>
          <a:p>
            <a:r>
              <a:t>grafos com atenção sobre os vizinhos, invariante ao número de agentes. A</a:t>
            </a:r>
          </a:p>
          <a:p>
            <a:r>
              <a:t>assimetria é declarada como primeira limitação: por isso mesmo, a conclusão</a:t>
            </a:r>
          </a:p>
          <a:p>
            <a:r>
              <a:t>sobre escalabilidade é atribuída à representação, não ao algoritmo. O evolutivo</a:t>
            </a:r>
          </a:p>
          <a:p>
            <a:r>
              <a:t>custa cerca de oito vezes mais núcleos-hora por execução.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Cento e quarenta e sete treinos, cada modelo avaliado em vinte episódios</a:t>
            </a:r>
          </a:p>
          <a:p>
            <a:r>
              <a:t>determinísticos com as mesmas sementes para os três algoritmos. A unidade</a:t>
            </a:r>
          </a:p>
          <a:p>
            <a:r>
              <a:t>estatística é a execução: sete por célula, Mann-Whitney com delta de Cliff. As</a:t>
            </a:r>
          </a:p>
          <a:p>
            <a:r>
              <a:t>campanhas decisivas foram pré-registadas — hipótese, testes e regra de decisão</a:t>
            </a:r>
          </a:p>
          <a:p>
            <a:r>
              <a:t>escritos antes de haver dados. E cada número da tese é conferido por um</a:t>
            </a:r>
          </a:p>
          <a:p>
            <a:r>
              <a:t>verificador contra os ficheiros de avaliação, a cada commit. Isto é o que me</a:t>
            </a:r>
          </a:p>
          <a:p>
            <a:r>
              <a:t>permite dizer que os números são os dos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Primeira resposta: não há vencedor universal. Quinze das vinte e uma células</a:t>
            </a:r>
          </a:p>
          <a:p>
            <a:r>
              <a:t>estão a cem por cento. O evolutivo, com a fitness de homing, é o especialista em</a:t>
            </a:r>
          </a:p>
          <a:p>
            <a:r>
              <a:t>navegação estruturada — significativamente superior em três cenários, incluindo</a:t>
            </a:r>
          </a:p>
          <a:p>
            <a:r>
              <a:t>os dois cooperativos, e empatado com o PPO nos gargalos. O PPO é o generalista:</a:t>
            </a:r>
          </a:p>
          <a:p>
            <a:r>
              <a:t>converge em tudo menos no Muro em U, com a variância mais baixa, e ganha o</a:t>
            </a:r>
          </a:p>
          <a:p>
            <a:r>
              <a:t>Sandbox onde o evolutivo degenera. O SAC é o mais sensível aos gargalos. E o</a:t>
            </a:r>
          </a:p>
          <a:p>
            <a:r>
              <a:t>Muro em U não é resolvido de forma fiável por nenhum: cada execução ou aprende</a:t>
            </a:r>
          </a:p>
          <a:p>
            <a:r>
              <a:t>o desvio ou não aprende 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ponto de método que muda a leitura. Com sete execuções, um boxplot esconde a</a:t>
            </a:r>
          </a:p>
          <a:p>
            <a:r>
              <a:t>forma. No Muro em U, o GNN tem quatro execuções a zero e três a resolver o</a:t>
            </a:r>
          </a:p>
          <a:p>
            <a:r>
              <a:t>cenário por completo: a média de vinte e quatro recolhas não descreve nenhuma</a:t>
            </a:r>
          </a:p>
          <a:p>
            <a:r>
              <a:t>delas. No Sandbox, o cenário mais simples, o evolutivo é o menos fiável: sem</a:t>
            </a:r>
          </a:p>
          <a:p>
            <a:r>
              <a:t>paredes não há gradiente geodésico que o guie, e duas execuções degeneram. Este</a:t>
            </a:r>
          </a:p>
          <a:p>
            <a:r>
              <a:t>padrão tudo-ou-nada é o fio condutor das duas questões seguintes.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primeira das questões de mecanismo. Nas campanhas exploratórias o evolutivo</a:t>
            </a:r>
          </a:p>
          <a:p>
            <a:r>
              <a:t>colapsava nos labirintos, e a leitura fácil era «limitação do paradigma». Não</a:t>
            </a:r>
          </a:p>
          <a:p>
            <a:r>
              <a:t>era. A fitness inicial somava o retorno acumulado, que se farma a deambular; a</a:t>
            </a:r>
          </a:p>
          <a:p>
            <a:r>
              <a:t>população saturava. Substituí esse termo pelo homing terminal — estar perto do</a:t>
            </a:r>
          </a:p>
          <a:p>
            <a:r>
              <a:t>ninho no fim, medido num potencial geodésico que contorna as paredes. Vinte e</a:t>
            </a:r>
          </a:p>
          <a:p>
            <a:r>
              <a:t>oito execuções de zero para cem por cento. Mas é condição necessária, não</a:t>
            </a:r>
          </a:p>
          <a:p>
            <a:r>
              <a:t>suficiente: o Muro em U continuou bimodal. Faltava a descoberta.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hibridização com procura por novidade, com orçamento igualado, resolve o</a:t>
            </a:r>
          </a:p>
          <a:p>
            <a:r>
              <a:t>Muro em U em sete de sete execuções — a única configuração que o faz. Mas com</a:t>
            </a:r>
          </a:p>
          <a:p>
            <a:r>
              <a:t>peso fixo degrada o cenário onde o gradiente já bastava. A campanha</a:t>
            </a:r>
          </a:p>
          <a:p>
            <a:r>
              <a:t>pré-registada de dosagem adaptativa — pagar novidade só enquanto ela compra</a:t>
            </a:r>
          </a:p>
          <a:p>
            <a:r>
              <a:t>descoberta — removeu o custo e deu o melhor resultado da tese. E a replicação</a:t>
            </a:r>
          </a:p>
          <a:p>
            <a:r>
              <a:t>com vinte e oito execuções por braço fecha a questão: vinte e oito em vinte e</a:t>
            </a:r>
          </a:p>
          <a:p>
            <a:r>
              <a:t>oito, contra quinze do objetivo puro e catorze de cada método de gradiente. O</a:t>
            </a:r>
          </a:p>
          <a:p>
            <a:r>
              <a:t>GNN objetivo e o PPO são indistinguíveis; o que decide é a dosagem da</a:t>
            </a:r>
          </a:p>
          <a:p>
            <a:r>
              <a:t>exploração, não o paradigma.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Escalabilidade. A política do controlador de grafo, treinada com vinte agentes,</a:t>
            </a:r>
          </a:p>
          <a:p>
            <a:r>
              <a:t>transfere para dez, cinquenta e cem — cem por cento de sucesso nas vinte e oito</a:t>
            </a:r>
          </a:p>
          <a:p>
            <a:r>
              <a:t>combinações, incluindo labirintos e tarefas cooperativas, onde a objeção do</a:t>
            </a:r>
          </a:p>
          <a:p>
            <a:r>
              <a:t>congestionamento seria mais plausível. A retenção per capita é mais alta nos</a:t>
            </a:r>
          </a:p>
          <a:p>
            <a:r>
              <a:t>cenários com paredes do que nos abertos: o que se perde no Sandbox é diluição</a:t>
            </a:r>
          </a:p>
          <a:p>
            <a:r>
              <a:t>de um recurso finito, não coordenação. O PPO e o SAC nem sequer podem ser</a:t>
            </a:r>
          </a:p>
          <a:p>
            <a:r>
              <a:t>avaliados fora de N igual a vinte. A vantagem de escala está na representação.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Robustez: dez por cento dos agentes falham a meio do episódio e ficam inertes.</a:t>
            </a:r>
          </a:p>
          <a:p>
            <a:r>
              <a:t>Os três paradigmas retêm entre noventa e dois e cento e seis por cento das</a:t>
            </a:r>
          </a:p>
          <a:p>
            <a:r>
              <a:t>recolhas, em todas as vinte e uma combinações — mesmo na porta que precisa de</a:t>
            </a:r>
          </a:p>
          <a:p>
            <a:r>
              <a:t>três robôs. A redundância vem da partilha de parâmetros e da observação local.</a:t>
            </a:r>
          </a:p>
          <a:p>
            <a:r>
              <a:t>Sendo transversal, a robustez não discrimina entre paradigmas — e isso é uma</a:t>
            </a:r>
          </a:p>
          <a:p>
            <a:r>
              <a:t>resposta, não uma ausência de resposta.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última pergunta testa a objeção mais natural a um benchmark por cenários</a:t>
            </a:r>
          </a:p>
          <a:p>
            <a:r>
              <a:t>isolados. Sem retreino, nenhum controlador faz uma única recolha no mapa</a:t>
            </a:r>
          </a:p>
          <a:p>
            <a:r>
              <a:t>composto — em oitenta e quatro células, com controlos que excluem a escala da</a:t>
            </a:r>
          </a:p>
          <a:p>
            <a:r>
              <a:t>observação e os obstáculos como causa. E o mapa é resolúvel: um navegador</a:t>
            </a:r>
          </a:p>
          <a:p>
            <a:r>
              <a:t>geodésico sem aprendizagem faz cinquenta e três recolhas. Com treino nativo, só</a:t>
            </a:r>
          </a:p>
          <a:p>
            <a:r>
              <a:t>o evolutivo o resolve, em quatro de vinte e uma execuções — abaixo do limiar</a:t>
            </a:r>
          </a:p>
          <a:p>
            <a:r>
              <a:t>pré-registado. A resposta é negativa e está reportada como negativa. O que a</a:t>
            </a:r>
          </a:p>
          <a:p>
            <a:r>
              <a:t>composição degrada é a fiabilidade: é a bimodalidade do Muro em U em ponto</a:t>
            </a:r>
          </a:p>
          <a:p>
            <a:r>
              <a:t>grande.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síntese prática. Dimensão fixa e cómputo barato: PPO. Dimensão variável ou</a:t>
            </a:r>
          </a:p>
          <a:p>
            <a:r>
              <a:t>escala sem retreino: a arquitetura de grafo é a única opção entre as</a:t>
            </a:r>
          </a:p>
          <a:p>
            <a:r>
              <a:t>estudadas. Navegação estruturada: o evolutivo com homing. Deceção espacial:</a:t>
            </a:r>
          </a:p>
          <a:p>
            <a:r>
              <a:t>novidade doseada adaptativamente. Robustez a falhas não separa ninguém. Em vez</a:t>
            </a:r>
          </a:p>
          <a:p>
            <a:r>
              <a:t>de um vencedor, a tese entrega os eixos que devem ditar a escolha.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limitações vêm antes das perguntas. A arquitetura difere entre paradigmas —</a:t>
            </a:r>
          </a:p>
          <a:p>
            <a:r>
              <a:t>é a primeira, e é deliberadamente lida como o que permite isolar a</a:t>
            </a:r>
          </a:p>
          <a:p>
            <a:r>
              <a:t>representação. Sete execuções são poucas onde a leitura é de contagens; por</a:t>
            </a:r>
          </a:p>
          <a:p>
            <a:r>
              <a:t>isso o Muro em U foi replicado com vinte e oito. Sete células ainda subiam no</a:t>
            </a:r>
          </a:p>
          <a:p>
            <a:r>
              <a:t>fim do orçamento; o SAC nos gargalos é limite inferior. Tudo é simulação. E a</a:t>
            </a:r>
          </a:p>
          <a:p>
            <a:r>
              <a:t>física tem duas costuras nas paredes que uma minoria de modelos explora — medi</a:t>
            </a:r>
          </a:p>
          <a:p>
            <a:r>
              <a:t>todos os modelos arquivados; nenhuma conclusão depende disso.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Quatro contributos. O primeiro é metodológico: o colapso do evolutivo era o</a:t>
            </a:r>
          </a:p>
          <a:p>
            <a:r>
              <a:t>sinal de treino, não o paradigma. O segundo é a caracterização da novidade como</a:t>
            </a:r>
          </a:p>
          <a:p>
            <a:r>
              <a:t>instrumento direcionado — e a dosagem adaptativa que remove o seu custo. O</a:t>
            </a:r>
          </a:p>
          <a:p>
            <a:r>
              <a:t>terceiro é o mapa de escolha. O quarto é o repositório: simulador, cenários,</a:t>
            </a:r>
          </a:p>
          <a:p>
            <a:r>
              <a:t>controladores e os verificadores que ligam cada número da tese aos ficheiros de</a:t>
            </a:r>
          </a:p>
          <a:p>
            <a:r>
              <a:t>avaliação.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hipótese de que a inteligência adaptativa supera a robustez estática</a:t>
            </a:r>
          </a:p>
          <a:p>
            <a:r>
              <a:t>confirma-se só em parte. A vantagem de escala existe — mas está na</a:t>
            </a:r>
          </a:p>
          <a:p>
            <a:r>
              <a:t>representação, não no otimizador. Nos cenários enganadores, o que decide é o</a:t>
            </a:r>
          </a:p>
          <a:p>
            <a:r>
              <a:t>sinal de treino e a exploração doseada. Os métodos de gradiente ficam com a</a:t>
            </a:r>
          </a:p>
          <a:p>
            <a:r>
              <a:t>fiabilidade em espaço aberto e o cómputo barato. E a composição degrada a</a:t>
            </a:r>
          </a:p>
          <a:p>
            <a:r>
              <a:t>fiabilidade antes da magnitude — um resultado negativo, reportado como 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das perguntas, um minuto ao vivo. Abro o painel na Apresentação, mapa dois:</a:t>
            </a:r>
          </a:p>
          <a:p>
            <a:r>
              <a:t>o Muro em U. Três colunas com os modelos da campanha final — repare-se que cada</a:t>
            </a:r>
          </a:p>
          <a:p>
            <a:r>
              <a:t>execução ou aprende o desvio ou fica a zero: três em sete, quatro em sete, duas</a:t>
            </a:r>
          </a:p>
          <a:p>
            <a:r>
              <a:t>em sete. A quarta coluna é o GNN com novidade doseada adaptativamente: sete em</a:t>
            </a:r>
          </a:p>
          <a:p>
            <a:r>
              <a:t>sete, setenta e oito recolhas. Carrego em Episódio 3D e os quatro enxames</a:t>
            </a:r>
          </a:p>
          <a:p>
            <a:r>
              <a:t>correm ao mesmo tempo. Em baixo, o dot plot com a linha do adaptativo e as</a:t>
            </a:r>
          </a:p>
          <a:p>
            <a:r>
              <a:t>curvas de treino. Qualquer número do painel tem proveniência: dois cliques até</a:t>
            </a:r>
          </a:p>
          <a:p>
            <a:r>
              <a:t>ao CSV. Plano B se a rede ou o portátil falharem: o GIF do slide nove.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Obrigado. O painel tem as trinta campanhas, os vídeos, os episódios em 3D e a</a:t>
            </a:r>
          </a:p>
          <a:p>
            <a:r>
              <a:t>proveniência de cada número — posso mostrar qualquer célula ao vivo. Estou à</a:t>
            </a:r>
          </a:p>
          <a:p>
            <a:r>
              <a:t>disposição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9441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A1A1A"/>
                </a:solidFill>
                <a:latin typeface="Calibri"/>
              </a:rPr>
              <a:t>Aprendizagem por Reforço para Controlo de Enxames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0"/>
            <a:ext cx="110944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6B6B6B"/>
                </a:solidFill>
                <a:latin typeface="Calibri"/>
              </a:rPr>
              <a:t>Aprendizagem por reforço multiagente por gradiente vs. neuroevolução com atenção sobre grafo, em oito cenários de dificuldade crescente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A1A1A"/>
                </a:solidFill>
                <a:latin typeface="Calibri"/>
              </a:rPr>
              <a:t>Gonçalo Pombo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B6B"/>
                </a:solidFill>
                <a:latin typeface="Calibri"/>
              </a:rPr>
              <a:t>Orientador: Prof. Doutor Luís Nunes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B6B"/>
                </a:solidFill>
                <a:latin typeface="Calibri"/>
              </a:rPr>
              <a:t>Mestrado em Inteligência Artificial · ISCTE-IUL · 2026</a:t>
            </a:r>
          </a:p>
        </p:txBody>
      </p:sp>
      <p:pic>
        <p:nvPicPr>
          <p:cNvPr id="5" name="Picture 4" descr="isc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8495" y="457200"/>
            <a:ext cx="1805863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duas escolas, e nenhuma comparação direta em cenários difíceis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Robótica de enxame: muitos agentes simples, controlo descentralizado, inteligência nas interações locais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Duas escolas para desenhar o controlador: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Otimização bio-inspirada — robustez offline, controladores estáticos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MARL — adaptabilidade online, não-estacionaridade, recompensas esparsas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Lacuna (Majid et al., 2024; Bettini et al., 2024): faltam benchmarks diretos, com estatística, em cenários dinâmicos e difíceis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Hipótese de partida: a inteligência adaptativa (MARL) supera a robustez estática bio-inspirada em cenários de stress?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0B3D91"/>
                </a:solidFill>
                <a:latin typeface="Calibri"/>
              </a:rPr>
              <a:t>A resposta curta: só em parte — e não onde a hipótese a punha.</a:t>
            </a:r>
          </a:p>
        </p:txBody>
      </p:sp>
      <p:pic>
        <p:nvPicPr>
          <p:cNvPr id="6" name="Picture 5" descr="viz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2415" y="1600200"/>
            <a:ext cx="4206240" cy="420624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Sete questões de investigação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quatro de comparação entre paradigmas, três sobre os mecanismos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00200"/>
            <a:ext cx="110944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B3D91"/>
                </a:solidFill>
                <a:latin typeface="Calibri"/>
              </a:rPr>
              <a:t>Nível 1 — comparação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QI1  Desempenho de tarefa: qual paradigma é mais eficaz, e em que cenários?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QI2  Escalabilidade: uma política treinada com N=20 transfere-se para N=10…100 sem retreino?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QI3  Robustez: o que acontece quando 10 % dos agentes falham a meio?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QI4  Critério de escolha: quando preferir um ao outro?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0B3D91"/>
                </a:solidFill>
                <a:latin typeface="Calibri"/>
              </a:rPr>
              <a:t>Nível 2 — mecanismos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QI5  Desenho da fitness: um shaping de homing desbloqueia o que a fitness pura não resolve?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QI6  Deceção: a procura por novidade ajuda onde o gradiente engana?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QI7  Composição: as conclusões transferem-se para um mapa que junta as dificuldades?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O simulador e os oito cenários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forrageamento cooperativo em 3D, 20 agentes, observação local (LiDAR 8 m)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0020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Tarefa: recolher itens e entregá-los no ninho; perceção cooperativa com alvo móvel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Observação local e parcial: LiDAR, bússola ao ninho, vizinhos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Sete cenários de dificuldade isolada:</a:t>
            </a:r>
          </a:p>
          <a:p>
            <a:pPr algn="l" lvl="1"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Sandbox · Muro em U (deceção espacial) · Gargalo · Quatro Salas</a:t>
            </a:r>
          </a:p>
          <a:p>
            <a:pPr algn="l" lvl="1"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Porta Cooperativa (3 robôs) · Perceção Cooperativa · Porta com Alternativa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Oitavo: o mapa composto, 103 × 62 m, que junta quatro dificuldades em série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Falhas súbitas de agentes e dimensão do enxame variável, para a robustez e a escala</a:t>
            </a:r>
          </a:p>
        </p:txBody>
      </p:sp>
      <p:pic>
        <p:nvPicPr>
          <p:cNvPr id="6" name="Picture 5" descr="mapa_3d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375" y="1600200"/>
            <a:ext cx="1168867" cy="1325880"/>
          </a:xfrm>
          <a:prstGeom prst="rect">
            <a:avLst/>
          </a:prstGeom>
        </p:spPr>
      </p:pic>
      <p:pic>
        <p:nvPicPr>
          <p:cNvPr id="7" name="Picture 6" descr="mapa_3d_u_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2727" y="1600200"/>
            <a:ext cx="1089032" cy="1325879"/>
          </a:xfrm>
          <a:prstGeom prst="rect">
            <a:avLst/>
          </a:prstGeom>
        </p:spPr>
      </p:pic>
      <p:pic>
        <p:nvPicPr>
          <p:cNvPr id="8" name="Picture 7" descr="mapa_3d_bottlen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6079" y="1600200"/>
            <a:ext cx="1014298" cy="1325880"/>
          </a:xfrm>
          <a:prstGeom prst="rect">
            <a:avLst/>
          </a:prstGeom>
        </p:spPr>
      </p:pic>
      <p:pic>
        <p:nvPicPr>
          <p:cNvPr id="9" name="Picture 8" descr="mapa_3d_four_room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9431" y="1600200"/>
            <a:ext cx="1059348" cy="1325880"/>
          </a:xfrm>
          <a:prstGeom prst="rect">
            <a:avLst/>
          </a:prstGeom>
        </p:spPr>
      </p:pic>
      <p:pic>
        <p:nvPicPr>
          <p:cNvPr id="10" name="Picture 9" descr="mapa_3d_cooperative_do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59375" y="3044952"/>
            <a:ext cx="1056648" cy="1325880"/>
          </a:xfrm>
          <a:prstGeom prst="rect">
            <a:avLst/>
          </a:prstGeom>
        </p:spPr>
      </p:pic>
      <p:pic>
        <p:nvPicPr>
          <p:cNvPr id="11" name="Picture 10" descr="mapa_3d_cooperative_percep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2727" y="3044952"/>
            <a:ext cx="1168867" cy="1325880"/>
          </a:xfrm>
          <a:prstGeom prst="rect">
            <a:avLst/>
          </a:prstGeom>
        </p:spPr>
      </p:pic>
      <p:pic>
        <p:nvPicPr>
          <p:cNvPr id="12" name="Picture 11" descr="mapa_3d_cooperative_door_bypas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06079" y="3044952"/>
            <a:ext cx="1036396" cy="1325880"/>
          </a:xfrm>
          <a:prstGeom prst="rect">
            <a:avLst/>
          </a:prstGeom>
        </p:spPr>
      </p:pic>
      <p:pic>
        <p:nvPicPr>
          <p:cNvPr id="13" name="Picture 12" descr="mapa_grande_plant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59375" y="4489704"/>
            <a:ext cx="1828799" cy="1828799"/>
          </a:xfrm>
          <a:prstGeom prst="rect">
            <a:avLst/>
          </a:prstGeom>
        </p:spPr>
      </p:pic>
      <p:cxnSp>
        <p:nvCxnSpPr>
          <p:cNvPr id="14" name="Connector 13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Os três controladores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o mesmo espaço de observação e ação; execução descentralizada com partilha de parâmetros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002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A arquitetura difere entre paradigmas — é uma limitação declarada, e é o que permite atribuir a escalabilidade à representação e não ao otimizador.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788920"/>
          <a:ext cx="1115568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80560"/>
                <a:gridCol w="4480560"/>
              </a:tblGrid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PPO / SAC (framework RS2C)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Neuroevolução (GNN)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Paradigma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MARL por gradiente (on-policy / off-policy)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Otimização bio-inspirada, sem gradientes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Política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MLP sobre observação de vizinhança densa (entrada fixa, ℝ¹¹¹)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Rede de grafos com atenção sobre os vizinhos (invariante a 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Sinal de treino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Recompensa por passo com shaping geodésico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Fitness: recolhas + homing terminal no potencial geodésico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Orçamento por execução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48 min, 16 ambientes vetorizados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195 min, população de 30 genomas em paralelo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Custo em núcleos-hora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12,8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97,6  (≈ 8×)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O protocolo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o que impede esta tese de mentir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00200"/>
            <a:ext cx="542513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3 algoritmos × 7 cenários × 7 execuções independentes = 147 treinos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Avaliação determinística: 20 episódios emparelhados por modelo (sementes comuns) — 2 940 episódios na campanha principal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A unidade estatística é a execução, não o episódio: Mann-Whitney U sobre as médias por execução (n = 7), δ de Cliff como tamanho de efeito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Métrica de tarefa pura: recolhas por episódio e taxa de sucesso — comparável entre paradigmas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Três campanhas pré-registadas (hipótese, testes e regra de decisão fixados antes dos dados)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Dezoito verificadores automáticos: cada número da dissertação é conferido contra os CSV a cada commit</a:t>
            </a:r>
          </a:p>
        </p:txBody>
      </p:sp>
      <p:pic>
        <p:nvPicPr>
          <p:cNvPr id="6" name="Picture 5" descr="comparacao_barras_g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535" y="1600200"/>
            <a:ext cx="5303520" cy="265176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QI1 — Desempenho de tarefa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não há paradigma dominante; há cenários de cada um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15 das 21 células a 100 % de sucesso em todas as execuções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F9E44"/>
                </a:solidFill>
                <a:latin typeface="Calibri"/>
              </a:rPr>
              <a:t>GNN evolutivo — especialista em navegação estruturada: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  superior em 3 cenários (Quatro Salas 59,8 vs 33,6 · Porta Cooperativa · Perceção Cooperativa, δ ≥ +0,71); empata com o PPO no Gargalo (121,4 vs 123,2) e na Porta com Alternativa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E8590C"/>
                </a:solidFill>
                <a:latin typeface="Calibri"/>
              </a:rPr>
              <a:t>PPO — o generalista fiável: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  100 % em seis cenários, a menor variância; ganha o Sandbox (71,5 vs 38,3 do GNN, δ = −1,00)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C7ED6"/>
                </a:solidFill>
                <a:latin typeface="Calibri"/>
              </a:rPr>
              <a:t>SAC — fiável em espaço aberto, frágil nos gargalos físicos: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  o único que falha execuções no Gargalo (5/7, 41,4 ± 36,8)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Muro em U: ninguém o resolve de forma fiável — bimodal nos três (3/7, 4/7, 2/7).</a:t>
            </a:r>
          </a:p>
        </p:txBody>
      </p:sp>
      <p:pic>
        <p:nvPicPr>
          <p:cNvPr id="6" name="Picture 5" descr="taxa_sucesso_por_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2415" y="1600200"/>
            <a:ext cx="3326813" cy="2194560"/>
          </a:xfrm>
          <a:prstGeom prst="rect">
            <a:avLst/>
          </a:prstGeom>
        </p:spPr>
      </p:pic>
      <p:pic>
        <p:nvPicPr>
          <p:cNvPr id="7" name="Picture 6" descr="recolhas_por_cen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2415" y="3977640"/>
            <a:ext cx="3650313" cy="2194560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A unidade é a execução — e a forma da distribuição conta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porque se reportam pontos e não caixas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00200"/>
            <a:ext cx="579089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Com n = 7, os quartis de um boxplot são ruído; a caixa cheia sugere densidade onde não há nenhuma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Muro em U: 4 execuções do GNN a zero e 3 entre 43 e 80 — bimodal, não «média 24,5»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Sandbox: o cenário mais simples é o menos fiável para o evolutivo — 2 execuções degeneram (sem paredes, não há gradiente geodésico que canalize o homing)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A convergência tudo-ou-nada é o padrão em 6 das 21 células — e é o que as QI5 e QI6 explicam</a:t>
            </a:r>
          </a:p>
        </p:txBody>
      </p:sp>
      <p:pic>
        <p:nvPicPr>
          <p:cNvPr id="6" name="Picture 5" descr="dotplot_eval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295" y="1600200"/>
            <a:ext cx="2663300" cy="2194560"/>
          </a:xfrm>
          <a:prstGeom prst="rect">
            <a:avLst/>
          </a:prstGeom>
        </p:spPr>
      </p:pic>
      <p:pic>
        <p:nvPicPr>
          <p:cNvPr id="7" name="Picture 6" descr="dotplot_eval_n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295" y="3977640"/>
            <a:ext cx="2663300" cy="2194560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QI5 — O desenho da fitness decide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o «colapso do evolutivo» era um artefacto do sinal de treino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00200"/>
            <a:ext cx="524225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Fitness inicial: recolhas + retorno acumulado do episódio — farmável por deambulação; a população satura num planalto sem pressão seletiva (fitness exploitation)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Cura: substituir o retorno pelo homing terminal — proximidade ao ninho no fim do episódio, medida no potencial geodésico (contorna paredes; o euclidiano atrai para dentro do beco)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2F9E44"/>
                </a:solidFill>
                <a:latin typeface="Calibri"/>
              </a:rPr>
              <a:t>Resultado: de 0 % para 100 % de sucesso nas 28 execuções dos quatro cenários de gargalo.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Necessário, não suficiente: resolve a atribuição de crédito, não a descoberta do desvio comprido — o Muro em U continua bimodal (3/7), como nos métodos de gradiente</a:t>
            </a:r>
          </a:p>
        </p:txBody>
      </p:sp>
      <p:pic>
        <p:nvPicPr>
          <p:cNvPr id="6" name="Picture 5" descr="heatmap_geodesico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655" y="1600200"/>
            <a:ext cx="5486400" cy="2754889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QI6 — Deceção e procura por novidade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a exploração tem preço; doseada, deixa de ter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Novidade com peso fixo (w = 0,5), orçamento igualado: Muro em U passa de 3/7 para 7/7 (69,8 vs 24,5; p = 0,026, δ = +0,71) — mas custa na Porta com Alternativa (63,0 vs 86,7; δ = −1,00)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Dosagem adaptativa (pré-registada): w decai após a descoberta sustentada → mantém 7/7 no Muro em U, sem custo significativo em nenhum dos outros seis; com o dobro do orçamento, 88,7 ± 0,6 — o melhor resultado da dissertação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O ganho não se compra com orçamento: o objetivo puro com 390 min continua bimodal (4/7)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0B3D91"/>
                </a:solidFill>
                <a:latin typeface="Calibri"/>
              </a:rPr>
              <a:t>Replicação a n = 28: 28/28 execuções resolvidas, contra 15/28 do objetivo puro e 14/28 do PPO e do SAC (Fisher exato, p &lt; 0,0001).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GNN objetivo e PPO indistinguíveis (p = 0,088): o que separa os braços é a dosagem da exploração, não o paradigma</a:t>
            </a:r>
          </a:p>
        </p:txBody>
      </p:sp>
      <p:pic>
        <p:nvPicPr>
          <p:cNvPr id="6" name="Picture 5" descr="megatreino_u_wall_4bra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2415" y="1600200"/>
            <a:ext cx="4587290" cy="45720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QI2 — Escalabilidade Zero-Shot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só a arquitetura de grafo transfere de N = 10 a N = 100 sem retreino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002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100 % de sucesso nas 28 combinações cenário × dimensão (recolhas por agente na tabela)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PPO/SAC: a MLP de entrada fixa (ℝ¹¹¹) é estruturalmente incompatível com N ≠ 20 — não é um resultado fraco, é o resultado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• A retenção é maior nos cenários com paredes: a estrutura atenua a diluição do recurso, não a agrava. Zero-shot é uma propriedade da representação, não do otimizador.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788920"/>
          <a:ext cx="1106424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463040"/>
                <a:gridCol w="1463040"/>
                <a:gridCol w="1463040"/>
                <a:gridCol w="1463040"/>
                <a:gridCol w="2286000"/>
              </a:tblGrid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Cenário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N=10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N=20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N=50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N=100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Retenção per capita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Sandbox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3,74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3,29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1,95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1,27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39 %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Perceção Cooperativa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1,64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1,30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0,83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0,59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45 %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Gargalo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6,92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6,93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5,96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4,04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58 %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Quatro Salas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3,60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3,86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3,26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2,54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66 %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Muro em U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3,84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4,01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3,81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3,14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78 %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Porta Cooperativa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3,40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3,54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3,41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3,12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88 %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Porta com Alternativa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4,31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4,50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4,44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4,06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90 %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QI3 — Robustez a falhas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10 % dos agentes ficam inertes a meio do episódio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00200"/>
            <a:ext cx="46936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Retenção de recolhas entre 92 % e 106 % nas 21 combinações algoritmo–cenário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Inclui a Porta Cooperativa, que exige três agentes simultâneos: o enxame redistribui-se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Transversal aos paradigmas: a redundância vem do parameter sharing e da observação local — nenhum agente é insubstituível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Consequência para a QI4: a robustez não é critério de escolha entre paradigmas</a:t>
            </a:r>
          </a:p>
        </p:txBody>
      </p:sp>
      <p:pic>
        <p:nvPicPr>
          <p:cNvPr id="6" name="Picture 5" descr="robustez_falh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8015" y="1600200"/>
            <a:ext cx="3204754" cy="420624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QI7 — Composição de dificuldades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um labirinto de 103 × 62 m que junta quatro dificuldades em série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00200"/>
            <a:ext cx="524225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Transferência sem retreino: zero recolhas em 84 de 84 células (1 680 episódios, 4 condições de controlo) — mas o mapa é resolúvel: um navegador geodésico sem aprendizagem faz 53,0 rec/ep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Treino nativo, 21 execuções por algoritmo: só o evolutivo passa — em 4 de 21, abaixo do limiar de 15 fixado antes dos dados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0B3D91"/>
                </a:solidFill>
                <a:latin typeface="Calibri"/>
              </a:rPr>
              <a:t>A resposta à QI7 é negativa, e reporta-se como tal.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O que a composição degrada é a fiabilidade, não a magnitude: a assinatura bimodal do Muro em U, à escala de um mapa quatro vezes maior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Condicionada ao orçamento: em 19 das 21 execuções o fitness ainda subia no último quinto</a:t>
            </a:r>
          </a:p>
        </p:txBody>
      </p:sp>
      <p:pic>
        <p:nvPicPr>
          <p:cNvPr id="6" name="Picture 5" descr="mapa_grande_pla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655" y="1600200"/>
            <a:ext cx="2194560" cy="2194560"/>
          </a:xfrm>
          <a:prstGeom prst="rect">
            <a:avLst/>
          </a:prstGeom>
        </p:spPr>
      </p:pic>
      <p:pic>
        <p:nvPicPr>
          <p:cNvPr id="7" name="Picture 6" descr="mapa_grande_ras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6655" y="3977640"/>
            <a:ext cx="1396854" cy="2194560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QI4 — Critério de escolha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não há vencedor universal; há um mapa de escolha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15568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3291840"/>
                <a:gridCol w="3840480"/>
              </a:tblGrid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Se a missão…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Então…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Porquê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tem enxame de dimensão fixa e conhecida, e prioriza eficiência e cómputo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MARL por gradiente (PPO)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100 % em seis cenários, menor variância, ≈ 8× mais barato (12,8 vs 97,6 núcleos-hora)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tem dimensão variável ou desconhecida, ou exige escalar sem retreino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arquitetura de grafo com atenção (aqui, evolutiva)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única a transferir de N=10 a N=100: 100 % em 28/28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tem navegação estruturada (gargalos, salas, portas cooperativas)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evolutivo com fitness de homing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superior em 3 cenários, empate nos outros gargalos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tem deceção espacial (gradiente enganador)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neuroevolução + novidade doseada adaptativamente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28/28 no Muro em U; sem custo nos outros seis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exige tolerância a falhas de agentes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qualquer dos três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92–106 % de retenção — não discrimina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cxnSp>
        <p:nvCxnSpPr>
          <p:cNvPr id="6" name="Connector 5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Limitações — as que admito primeiro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declaradas na dissertação, com os números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00200"/>
            <a:ext cx="597377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Arquitetura assimétrica: atenção sobre grafo só no evolutivo; PPO/SAC com MLP — a comparação combina otimizador e representação (trabalho futuro n.º 1: a mesma arquitetura por gradiente)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Sete execuções por célula: onde a leitura depende de contagens, replicou-se a n = 28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Orçamento: 7 das 21 células ainda subiam no fim — o SAC nos gargalos lê-se como limite inferior (temperatura fixa, α = 0,1)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Só simulação: o fosso de implantação fica por validar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Dimensão vertical não observada mas usada; duas costuras na física das paredes (11 de 343 modelos atravessam-nas; nenhuma conclusão depende deles)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QI7 sobre um único mapa composto</a:t>
            </a:r>
          </a:p>
        </p:txBody>
      </p:sp>
      <p:pic>
        <p:nvPicPr>
          <p:cNvPr id="6" name="Picture 5" descr="dotplot_eval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8175" y="1600200"/>
            <a:ext cx="4754880" cy="3918021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Contributos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00200"/>
            <a:ext cx="579089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A1A"/>
                </a:solidFill>
                <a:latin typeface="Calibri"/>
              </a:rPr>
              <a:t>1. O desenho da fitness como causa e cura do colapso evolutivo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  o homing terminal no potencial geodésico levou 28 execuções de 0 % a 100 % — o principal contributo metodológico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A1A"/>
                </a:solidFill>
                <a:latin typeface="Calibri"/>
              </a:rPr>
              <a:t>2. Caracterização condicional da procura por novidade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  resolve a deceção espacial (28/28) e, doseada adaptativamente, deixa de custar onde o gradiente basta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A1A"/>
                </a:solidFill>
                <a:latin typeface="Calibri"/>
              </a:rPr>
              <a:t>3. Um mapa de escolha para engenharia de enxames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  estrutura do cenário, variabilidade de N e cómputo, em vez de um vencedor universal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A1A"/>
                </a:solidFill>
                <a:latin typeface="Calibri"/>
              </a:rPr>
              <a:t>4. Uma implementação de referência aberta e verificável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  simulador, oito cenários, RS2C e neuroevolução; 18 verificadores ligam cada número aos dados</a:t>
            </a:r>
          </a:p>
        </p:txBody>
      </p:sp>
      <p:pic>
        <p:nvPicPr>
          <p:cNvPr id="5" name="Picture 4" descr="escalabilidade_zeroshot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295" y="1600200"/>
            <a:ext cx="4937760" cy="308610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Conclusão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a hipótese confirma-se só em parte — e não onde a punha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737360"/>
            <a:ext cx="1109441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1">
                <a:solidFill>
                  <a:srgbClr val="0B3D91"/>
                </a:solidFill>
                <a:latin typeface="Calibri"/>
              </a:rPr>
              <a:t>A vantagem de escala reside na representação — o grafo com atenção —, não no algoritmo de otimização.</a:t>
            </a:r>
          </a:p>
          <a:p>
            <a:pPr algn="l">
              <a:spcAft>
                <a:spcPts val="1600"/>
              </a:spcAft>
            </a:pPr>
            <a:r>
              <a:rPr sz="2200" b="1">
                <a:solidFill>
                  <a:srgbClr val="0B3D91"/>
                </a:solidFill>
                <a:latin typeface="Calibri"/>
              </a:rPr>
              <a:t>Nos cenários de gradiente enganador, o que decide é o desenho do sinal de treino e a exploração doseada adaptativamente — não o paradigma.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Os métodos de gradiente ficam com a fiabilidade em espaço aberto e com ≈ 8× menos cómputo.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A composição de dificuldades degrada a fiabilidade antes da magnitude — e isso está reportado como resultado negativo, com o número à vista.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Demo ao vivo — o Muro em U no painel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os três modelos a correr lado a lado, o vencedor em destaque, e a proveniência de cada número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demo_muro_em_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589520" cy="37027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0" y="1554480"/>
            <a:ext cx="323057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3D91"/>
                </a:solidFill>
                <a:latin typeface="Calibri"/>
              </a:rPr>
              <a:t>O que mostrar, por esta ordem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1. Os três da campanha final: 3/7, 4/7 e 2/7 — cada execução ou aprende o desvio ou fica a zero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2. A 4.ª coluna: o GNN com novidade adaptativa — 7/7, 77,8 rec/ep (o «melhor»)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3. Toggle «Episódio 3D»: os quatro enxames em 3D ao mesmo tempo; arrastar para rodar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4. Em baixo: o dot plot com a linha do adaptativo, e as curvas de treino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5. Se perguntarem «de onde vem este número?»: Proveniência — dois cliques até ao CSV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Calibri"/>
              </a:rPr>
              <a:t>Painel: localhost:8080 (portátil) · swarmroboticsgs.duckdns.org (Pi)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Calibri"/>
              </a:rPr>
              <a:t>Setas do teclado mudam de mapa · plano B: o GIF do Muro em U no slide 9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A1A1A"/>
                </a:solidFill>
                <a:latin typeface="Calibri"/>
              </a:rPr>
              <a:t>Obrigado.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9184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6B6B6B"/>
                </a:solidFill>
                <a:latin typeface="Calibri"/>
              </a:rPr>
              <a:t>Painel interativo (campanhas, vídeos, episódios 3D, proveniência de cada número):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0B3D91"/>
                </a:solidFill>
                <a:latin typeface="Calibri"/>
              </a:rPr>
              <a:t>http://swarmroboticsgs.duckdns.org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Página de resultados:  https://pombo2001.github.io/swarm-robotics-tese/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Código, dados e verificadores:  https://github.com/Pombo2001/swarm-robotics-tese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