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0:25 · 25 s]</a:t>
            </a:r>
          </a:p>
          <a:p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(249 palavras) - - -</a:t>
            </a:r>
          </a:p>
          <a:p/>
          <a:p>
            <a:r>
              <a:t>Para comparar a Aprendizagem por Reforço Multiagente e a Otimização Bio-inspirada</a:t>
            </a:r>
          </a:p>
          <a:p>
            <a:r>
              <a:t>no controlo de enxames robóticos, implementou-se num simulador de alta fidelidade</a:t>
            </a:r>
          </a:p>
          <a:p>
            <a:r>
              <a:t>o framework descentralizado Robust and Scalable Swarm Control (partilha de</a:t>
            </a:r>
          </a:p>
          <a:p>
            <a:r>
              <a:t>parâmetros; Proximal Policy Optimization e Soft Actor-Critic) e um controlador</a:t>
            </a:r>
          </a:p>
          <a:p>
            <a:r>
              <a:t>neuroevolutivo sobre grafos com atenção,</a:t>
            </a:r>
          </a:p>
          <a:p>
            <a:r>
              <a:t>invariante à dimensão do enxame. Avaliaram-se em sete cenários de dificuldade</a:t>
            </a:r>
          </a:p>
          <a:p>
            <a:r>
              <a:t>crescente (7 execuções independentes por combinação), sob estatística</a:t>
            </a:r>
          </a:p>
          <a:p>
            <a:r>
              <a:t>não-paramétrica.</a:t>
            </a:r>
          </a:p>
          <a:p/>
          <a:p>
            <a:r>
              <a:t>Com homing geodésico na função de fitness, o controlador evolutivo supera os</a:t>
            </a:r>
          </a:p>
          <a:p>
            <a:r>
              <a:t>métodos de gradiente em três cenários, iguala o melhor deles noutros dois e</a:t>
            </a:r>
          </a:p>
          <a:p>
            <a:r>
              <a:t>transfere, sozinho, sem retreino para dimensões não vistas (N de 10 a 100, com</a:t>
            </a:r>
          </a:p>
          <a:p>
            <a:r>
              <a:t>100% de sucesso); os de gradiente mantêm a fiabilidade em espaço aberto e a</a:t>
            </a:r>
          </a:p>
          <a:p>
            <a:r>
              <a:t>eficiência. O cenário de deceção espacial, bimodal nos três algoritmos base, só</a:t>
            </a:r>
          </a:p>
          <a:p>
            <a:r>
              <a:t>cedeu à novidade doseada adaptativamente: preserva os 7/7 execuções no Muro em U</a:t>
            </a:r>
          </a:p>
          <a:p>
            <a:r>
              <a:t>e atinge, na Porta com Alternativa, o melhor resultado de toda a dissertação</a:t>
            </a:r>
          </a:p>
          <a:p>
            <a:r>
              <a:t>(88,7 recolhas por episódio); uma replicação pré-registada com 28 execuções por</a:t>
            </a:r>
          </a:p>
          <a:p>
            <a:r>
              <a:t>braço confirmou-o (28/28, contra 15/28 do objetivo puro e 14/28 de cada método</a:t>
            </a:r>
          </a:p>
          <a:p>
            <a:r>
              <a:t>por gradiente).</a:t>
            </a:r>
          </a:p>
          <a:p>
            <a:r>
              <a:t>Um oitavo cenário, compondo num labirinto de 103 x 62 m as dificuldades dos sete,</a:t>
            </a:r>
          </a:p>
          <a:p>
            <a:r>
              <a:t>degrada a fiabilidade e não a magnitude: é resolvido em 4 das 21 execuções</a:t>
            </a:r>
          </a:p>
          <a:p>
            <a:r>
              <a:t>independentes, abaixo do limiar pré-registado.</a:t>
            </a:r>
          </a:p>
          <a:p/>
          <a:p>
            <a:r>
              <a:t>A hipótese de que a inteligência adaptativa supera a robustez estática confirma-se</a:t>
            </a:r>
          </a:p>
          <a:p>
            <a:r>
              <a:t>apenas em parte: a escala decide-se na representação e não no otimizador; sob</a:t>
            </a:r>
          </a:p>
          <a:p>
            <a:r>
              <a:t>gradientes enganadores, no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9, a novidade no 10, a escala no 11, o mapa</a:t>
            </a:r>
          </a:p>
          <a:p>
            <a:r>
              <a:t>composto no 13, e a frase final é o slide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 → 1:15 · 50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→ 1:55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[1:55 → 2:55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o forrageamento cooperativo.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 → 3:45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→ 4:35 · 50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 → 5:45 · 70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recolhas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recolhas,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recolha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recolhas.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A resposta é negativa e está reportada como negativa. O que a</a:t>
            </a:r>
          </a:p>
          <a:p>
            <a:r>
              <a:t>composição degrada é a fiabilidade: é a bimodalidade do Muro em U em ponto</a:t>
            </a:r>
          </a:p>
          <a:p>
            <a:r>
              <a:t>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recolhas.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09 no rodapé.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recolhas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recolhas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no modelo campeão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três e quatrocentas e doze recolhas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Aprendizagem por Reforço para Controlo de Enxames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9A9A9A"/>
                </a:solidFill>
                <a:latin typeface="Segoe UI"/>
              </a:rPr>
              <a:t>Aprendizagem por reforço multiagente por gradiente vs. neuroevolução com atenção sobre grafo, em oito cenários de dificuldade crescente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forrageamento cooperativo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recolher itens e entregá-los no ninho;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recolhas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recolhas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1788" y="1600200"/>
            <a:ext cx="3241894" cy="219456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084" y="1682496"/>
            <a:ext cx="3077302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2169" y="3977640"/>
            <a:ext cx="3541132" cy="2194560"/>
          </a:xfrm>
          <a:prstGeom prst="roundRect">
            <a:avLst>
              <a:gd name="adj" fmla="val 254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465" y="4059936"/>
            <a:ext cx="337654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Fitness inicial: recolhas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6655" y="2284902"/>
            <a:ext cx="5486400" cy="2836835"/>
          </a:xfrm>
          <a:prstGeom prst="roundRect">
            <a:avLst>
              <a:gd name="adj" fmla="val 164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geodesico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951" y="2367198"/>
            <a:ext cx="5321808" cy="267224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(recolhas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recolhas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Transferência sem retreino: zero recolhas em 84 de 84 células (1 680 episódios, 4 condições de controlo) — mas o mapa é resolúvel: um navegador geodésico sem aprendizagem faz 53,0 rec/ep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negativa, e reporta-se como tal.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que a composição degrada é a fiabilidade, não a magnitude: a assinatura bimodal do Muro em U, à escala de um mapa quatro vezes maior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Condicionada ao orçamento: em 19 das 21 execuções o fitness ainda subia no último quinto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575" y="1600200"/>
            <a:ext cx="2194560" cy="2194560"/>
          </a:xfrm>
          <a:prstGeom prst="roundRect">
            <a:avLst>
              <a:gd name="adj" fmla="val 410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grande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871" y="1682496"/>
            <a:ext cx="2029968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71514" y="3977640"/>
            <a:ext cx="145668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grande_ra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810" y="4059936"/>
            <a:ext cx="129209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rec/ep).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rec/ep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09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recolhas/ep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rec/ep: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recolhas em 84/84 células · 1 680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rec/ep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rec/ep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o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2 940 episódios de avaliação. Projeto inteiro: 28 sessões e 2 078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modelos campeões,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(473 e 412 recolhas em 6 episódios); o SAC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1 043 dos 2 286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